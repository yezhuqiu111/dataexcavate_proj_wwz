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1.xml" ContentType="application/vnd.openxmlformats-officedocument.presentationml.tags+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5" r:id="rId2"/>
  </p:sldMasterIdLst>
  <p:notesMasterIdLst>
    <p:notesMasterId r:id="rId13"/>
  </p:notesMasterIdLst>
  <p:sldIdLst>
    <p:sldId id="1834" r:id="rId3"/>
    <p:sldId id="2675" r:id="rId4"/>
    <p:sldId id="2676" r:id="rId5"/>
    <p:sldId id="2677" r:id="rId6"/>
    <p:sldId id="2678" r:id="rId7"/>
    <p:sldId id="2679" r:id="rId8"/>
    <p:sldId id="2680" r:id="rId9"/>
    <p:sldId id="2682" r:id="rId10"/>
    <p:sldId id="2681" r:id="rId11"/>
    <p:sldId id="2683"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20" autoAdjust="0"/>
    <p:restoredTop sz="94865" autoAdjust="0"/>
  </p:normalViewPr>
  <p:slideViewPr>
    <p:cSldViewPr snapToGrid="0">
      <p:cViewPr varScale="1">
        <p:scale>
          <a:sx n="123" d="100"/>
          <a:sy n="123" d="100"/>
        </p:scale>
        <p:origin x="764" y="76"/>
      </p:cViewPr>
      <p:guideLst/>
    </p:cSldViewPr>
  </p:slideViewPr>
  <p:notesTextViewPr>
    <p:cViewPr>
      <p:scale>
        <a:sx n="1" d="1"/>
        <a:sy n="1" d="1"/>
      </p:scale>
      <p:origin x="0" y="0"/>
    </p:cViewPr>
  </p:notesTextViewPr>
  <p:sorterViewPr>
    <p:cViewPr>
      <p:scale>
        <a:sx n="100" d="100"/>
        <a:sy n="100" d="100"/>
      </p:scale>
      <p:origin x="0" y="-3102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4F5E78-11BB-43D5-BAC8-798ADBF57590}" type="datetimeFigureOut">
              <a:rPr lang="zh-CN" altLang="en-US" smtClean="0"/>
              <a:t>2026/6/13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0AA019-6480-44B3-B2DE-9B6C250DF851}" type="slidenum">
              <a:rPr lang="zh-CN" altLang="en-US" smtClean="0"/>
              <a:t>‹#›</a:t>
            </a:fld>
            <a:endParaRPr lang="zh-CN" altLang="en-US"/>
          </a:p>
        </p:txBody>
      </p:sp>
    </p:spTree>
    <p:extLst>
      <p:ext uri="{BB962C8B-B14F-4D97-AF65-F5344CB8AC3E}">
        <p14:creationId xmlns:p14="http://schemas.microsoft.com/office/powerpoint/2010/main" val="4151218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pPr>
                <a:defRPr/>
              </a:pPr>
              <a:t>1</a:t>
            </a:fld>
            <a:endParaRPr lang="zh-CN" altLang="en-US" dirty="0"/>
          </a:p>
        </p:txBody>
      </p:sp>
    </p:spTree>
    <p:extLst>
      <p:ext uri="{BB962C8B-B14F-4D97-AF65-F5344CB8AC3E}">
        <p14:creationId xmlns:p14="http://schemas.microsoft.com/office/powerpoint/2010/main" val="1998651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A65A8-A1BC-050D-99D7-9B804CA7B9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BCF878-824D-5498-0908-A4CB9903A8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C13E36-F4FF-8E49-007F-A06922662BE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0136BB2-C5C1-3A51-0654-E6591D8B3E1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200740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C31F1-CEFD-774D-D088-BBC0ECDDB5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0B81E7-3F41-9DA8-556C-007C275A22E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188CAF-A55B-6B3A-D99B-04C1BC792F3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84CE1B6-DBF5-4A55-60D6-14159851C9E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480561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53066-9293-70B8-AD6F-4F956EB3AA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47B444-9F70-C5E4-6A88-B9E2A57CBB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025C37-8F1C-66C4-28C7-6E9F703B537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9F022AD-C7B6-FE03-BB43-2686608E45A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957217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3ACBF-0F7F-5337-A63D-E845D4B083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71B890-0410-608F-7B25-0949A86B97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71CCFB-1E0B-F0A7-9A49-303439B31DA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65594D9-DAE4-8453-78C6-F9DD8F02DA2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40441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99922-9677-575C-B719-ABBF0CACDD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C1C725-2307-3149-1476-C3AC1985CD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599E02-4FD2-9E98-8A34-34961DE4040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437AB33-DF00-38FF-B945-1F26A7D9EFE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803435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C52C8-D3C8-2F46-B67E-ACB5DB1EE3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FBCF1D-BEB4-A456-F0E9-71C0DAA6F6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9CD3D7-6FE8-B200-697C-BA1C1B00019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82D9861-858F-D554-24CB-CC3DCC39D96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761290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3D193-676C-4EAC-FFCE-48B1F8BA19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D4E5BB-0E2E-F854-13E3-A0B41E3F19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F9FD85-00DA-E6CF-47D5-36372C3BD72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D9D8B0D-29B4-A197-FB4D-89E7CFF41B2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091888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66A52-9C54-7488-6FAE-D888B4C8C9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C331A6-FC24-3523-5EC2-8D9760DD97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41F290-377B-6D53-E545-DB65067DA63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048196D-0FD0-F81D-F1A2-99155EB68B0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12557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99845-FD2E-6210-8243-3FBFDE5793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BDF653-FB33-C0DD-9B3D-7939EA82A4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751C0E-7AE9-ED6F-8F65-D8AED7778B0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EDF4A21-FFF8-6C64-9755-7290B3C40FA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5317746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页样式1-常规">
    <p:spTree>
      <p:nvGrpSpPr>
        <p:cNvPr id="1" name=""/>
        <p:cNvGrpSpPr/>
        <p:nvPr/>
      </p:nvGrpSpPr>
      <p:grpSpPr>
        <a:xfrm>
          <a:off x="0" y="0"/>
          <a:ext cx="0" cy="0"/>
          <a:chOff x="0" y="0"/>
          <a:chExt cx="0" cy="0"/>
        </a:xfrm>
      </p:grpSpPr>
      <p:cxnSp>
        <p:nvCxnSpPr>
          <p:cNvPr id="2" name="直接连接符 1"/>
          <p:cNvCxnSpPr/>
          <p:nvPr userDrawn="1"/>
        </p:nvCxnSpPr>
        <p:spPr>
          <a:xfrm>
            <a:off x="1550089" y="863157"/>
            <a:ext cx="10318623"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a:extLst>
              <a:ext uri="{FF2B5EF4-FFF2-40B4-BE49-F238E27FC236}">
                <a16:creationId xmlns:a16="http://schemas.microsoft.com/office/drawing/2014/main" id="{C10D966C-9DD4-4144-A316-29077EB905B4}"/>
              </a:ext>
            </a:extLst>
          </p:cNvPr>
          <p:cNvSpPr/>
          <p:nvPr userDrawn="1"/>
        </p:nvSpPr>
        <p:spPr>
          <a:xfrm>
            <a:off x="318632" y="0"/>
            <a:ext cx="1048735" cy="87312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606550"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5" name="矩形 4">
            <a:extLst>
              <a:ext uri="{FF2B5EF4-FFF2-40B4-BE49-F238E27FC236}">
                <a16:creationId xmlns:a16="http://schemas.microsoft.com/office/drawing/2014/main" id="{6833366C-F485-4B9F-89F5-27A807162B12}"/>
              </a:ext>
            </a:extLst>
          </p:cNvPr>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sp>
        <p:nvSpPr>
          <p:cNvPr id="25" name="矩形 24">
            <a:extLst>
              <a:ext uri="{FF2B5EF4-FFF2-40B4-BE49-F238E27FC236}">
                <a16:creationId xmlns:a16="http://schemas.microsoft.com/office/drawing/2014/main" id="{C10D966C-9DD4-4144-A316-29077EB905B4}"/>
              </a:ext>
            </a:extLst>
          </p:cNvPr>
          <p:cNvSpPr/>
          <p:nvPr userDrawn="1"/>
        </p:nvSpPr>
        <p:spPr>
          <a:xfrm>
            <a:off x="1378908" y="-1612"/>
            <a:ext cx="167082" cy="874737"/>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37818" y="347339"/>
            <a:ext cx="1969223" cy="432990"/>
          </a:xfrm>
          <a:prstGeom prst="rect">
            <a:avLst/>
          </a:prstGeom>
        </p:spPr>
      </p:pic>
      <p:cxnSp>
        <p:nvCxnSpPr>
          <p:cNvPr id="7" name="直接连接符 6"/>
          <p:cNvCxnSpPr/>
          <p:nvPr userDrawn="1"/>
        </p:nvCxnSpPr>
        <p:spPr>
          <a:xfrm>
            <a:off x="1366474" y="-17822"/>
            <a:ext cx="0" cy="107941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userDrawn="1"/>
        </p:nvCxnSpPr>
        <p:spPr>
          <a:xfrm>
            <a:off x="11155416" y="6119786"/>
            <a:ext cx="0" cy="76063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4" name="组合 83"/>
          <p:cNvGrpSpPr/>
          <p:nvPr userDrawn="1"/>
        </p:nvGrpSpPr>
        <p:grpSpPr>
          <a:xfrm>
            <a:off x="587288" y="6381747"/>
            <a:ext cx="2479573" cy="304965"/>
            <a:chOff x="671368" y="6061309"/>
            <a:chExt cx="2479573" cy="304965"/>
          </a:xfrm>
          <a:solidFill>
            <a:schemeClr val="bg1"/>
          </a:solidFill>
        </p:grpSpPr>
        <p:grpSp>
          <p:nvGrpSpPr>
            <p:cNvPr id="85" name="组合 84"/>
            <p:cNvGrpSpPr/>
            <p:nvPr userDrawn="1"/>
          </p:nvGrpSpPr>
          <p:grpSpPr>
            <a:xfrm>
              <a:off x="2098445" y="6064781"/>
              <a:ext cx="1052496" cy="298683"/>
              <a:chOff x="2373567" y="1096524"/>
              <a:chExt cx="2578404" cy="731714"/>
            </a:xfrm>
            <a:grpFill/>
          </p:grpSpPr>
          <p:sp>
            <p:nvSpPr>
              <p:cNvPr id="100"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1"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02" name="组合 101">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10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3" name="组合 102">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10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6" name="组合 85"/>
            <p:cNvGrpSpPr/>
            <p:nvPr userDrawn="1"/>
          </p:nvGrpSpPr>
          <p:grpSpPr>
            <a:xfrm>
              <a:off x="671368" y="6061309"/>
              <a:ext cx="1100339" cy="304965"/>
              <a:chOff x="2372715" y="161759"/>
              <a:chExt cx="2695608" cy="747103"/>
            </a:xfrm>
            <a:grpFill/>
          </p:grpSpPr>
          <p:grpSp>
            <p:nvGrpSpPr>
              <p:cNvPr id="87" name="组合 86">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9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8" name="组合 87">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9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9" name="组合 88">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9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0" name="组合 89"/>
              <p:cNvGrpSpPr/>
              <p:nvPr/>
            </p:nvGrpSpPr>
            <p:grpSpPr>
              <a:xfrm>
                <a:off x="4613362" y="313351"/>
                <a:ext cx="454961" cy="453362"/>
                <a:chOff x="11893465" y="1994536"/>
                <a:chExt cx="274986" cy="274018"/>
              </a:xfrm>
              <a:grpFill/>
            </p:grpSpPr>
            <p:sp>
              <p:nvSpPr>
                <p:cNvPr id="91"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2580948859"/>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页样式1-一段一图-1">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a:extLst>
              <a:ext uri="{FF2B5EF4-FFF2-40B4-BE49-F238E27FC236}">
                <a16:creationId xmlns:a16="http://schemas.microsoft.com/office/drawing/2014/main" id="{6833366C-F485-4B9F-89F5-27A807162B12}"/>
              </a:ext>
            </a:extLst>
          </p:cNvPr>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19786"/>
            <a:ext cx="0" cy="76063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4" name="组合 83"/>
          <p:cNvGrpSpPr/>
          <p:nvPr userDrawn="1"/>
        </p:nvGrpSpPr>
        <p:grpSpPr>
          <a:xfrm>
            <a:off x="587288" y="6381747"/>
            <a:ext cx="2479573" cy="304965"/>
            <a:chOff x="671368" y="6061309"/>
            <a:chExt cx="2479573" cy="304965"/>
          </a:xfrm>
          <a:solidFill>
            <a:schemeClr val="bg1"/>
          </a:solidFill>
        </p:grpSpPr>
        <p:grpSp>
          <p:nvGrpSpPr>
            <p:cNvPr id="85" name="组合 84"/>
            <p:cNvGrpSpPr/>
            <p:nvPr userDrawn="1"/>
          </p:nvGrpSpPr>
          <p:grpSpPr>
            <a:xfrm>
              <a:off x="2098445" y="6064781"/>
              <a:ext cx="1052496" cy="298683"/>
              <a:chOff x="2373567" y="1096524"/>
              <a:chExt cx="2578404" cy="731714"/>
            </a:xfrm>
            <a:grpFill/>
          </p:grpSpPr>
          <p:sp>
            <p:nvSpPr>
              <p:cNvPr id="100"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1"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02" name="组合 101">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10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3" name="组合 102">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10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6" name="组合 85"/>
            <p:cNvGrpSpPr/>
            <p:nvPr userDrawn="1"/>
          </p:nvGrpSpPr>
          <p:grpSpPr>
            <a:xfrm>
              <a:off x="671368" y="6061309"/>
              <a:ext cx="1100339" cy="304965"/>
              <a:chOff x="2372715" y="161759"/>
              <a:chExt cx="2695608" cy="747103"/>
            </a:xfrm>
            <a:grpFill/>
          </p:grpSpPr>
          <p:grpSp>
            <p:nvGrpSpPr>
              <p:cNvPr id="87" name="组合 86">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9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8" name="组合 87">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9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9" name="组合 88">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9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0" name="组合 89"/>
              <p:cNvGrpSpPr/>
              <p:nvPr/>
            </p:nvGrpSpPr>
            <p:grpSpPr>
              <a:xfrm>
                <a:off x="4613362" y="313351"/>
                <a:ext cx="454961" cy="453362"/>
                <a:chOff x="11893465" y="1994536"/>
                <a:chExt cx="274986" cy="274018"/>
              </a:xfrm>
              <a:grpFill/>
            </p:grpSpPr>
            <p:sp>
              <p:nvSpPr>
                <p:cNvPr id="91"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37" name="标题 11">
            <a:extLst>
              <a:ext uri="{FF2B5EF4-FFF2-40B4-BE49-F238E27FC236}">
                <a16:creationId xmlns:a16="http://schemas.microsoft.com/office/drawing/2014/main" id="{F740B2F3-F46E-47AE-8C0D-F561C0D52E87}"/>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1377333345"/>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页样式1-一段一图-2">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37818" y="347339"/>
            <a:ext cx="1969223" cy="432990"/>
          </a:xfrm>
          <a:prstGeom prst="rect">
            <a:avLst/>
          </a:prstGeom>
        </p:spPr>
      </p:pic>
      <p:cxnSp>
        <p:nvCxnSpPr>
          <p:cNvPr id="5" name="直接连接符 4"/>
          <p:cNvCxnSpPr/>
          <p:nvPr userDrawn="1"/>
        </p:nvCxnSpPr>
        <p:spPr>
          <a:xfrm>
            <a:off x="11155416" y="6133167"/>
            <a:ext cx="0" cy="7561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9281659"/>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样式2-常规">
    <p:spTree>
      <p:nvGrpSpPr>
        <p:cNvPr id="1" name=""/>
        <p:cNvGrpSpPr/>
        <p:nvPr/>
      </p:nvGrpSpPr>
      <p:grpSpPr>
        <a:xfrm>
          <a:off x="0" y="0"/>
          <a:ext cx="0" cy="0"/>
          <a:chOff x="0" y="0"/>
          <a:chExt cx="0" cy="0"/>
        </a:xfrm>
      </p:grpSpPr>
      <p:sp>
        <p:nvSpPr>
          <p:cNvPr id="12" name="标题 11"/>
          <p:cNvSpPr>
            <a:spLocks noGrp="1"/>
          </p:cNvSpPr>
          <p:nvPr>
            <p:ph type="title"/>
          </p:nvPr>
        </p:nvSpPr>
        <p:spPr>
          <a:xfrm>
            <a:off x="577850"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790193" y="252089"/>
            <a:ext cx="1969223" cy="432990"/>
          </a:xfrm>
          <a:prstGeom prst="rect">
            <a:avLst/>
          </a:prstGeom>
        </p:spPr>
      </p:pic>
      <p:grpSp>
        <p:nvGrpSpPr>
          <p:cNvPr id="2" name="组合 1"/>
          <p:cNvGrpSpPr/>
          <p:nvPr userDrawn="1"/>
        </p:nvGrpSpPr>
        <p:grpSpPr>
          <a:xfrm>
            <a:off x="-9524" y="122428"/>
            <a:ext cx="559928" cy="699303"/>
            <a:chOff x="-9524" y="122428"/>
            <a:chExt cx="559928" cy="699303"/>
          </a:xfrm>
        </p:grpSpPr>
        <p:sp>
          <p:nvSpPr>
            <p:cNvPr id="85" name="任意多边形: 形状 56">
              <a:extLst>
                <a:ext uri="{FF2B5EF4-FFF2-40B4-BE49-F238E27FC236}">
                  <a16:creationId xmlns:a16="http://schemas.microsoft.com/office/drawing/2014/main" id="{77A3E9FF-E8D6-4864-AD9A-BC3E704158E7}"/>
                </a:ext>
              </a:extLst>
            </p:cNvPr>
            <p:cNvSpPr/>
            <p:nvPr userDrawn="1"/>
          </p:nvSpPr>
          <p:spPr>
            <a:xfrm>
              <a:off x="-9524" y="122428"/>
              <a:ext cx="559928" cy="699303"/>
            </a:xfrm>
            <a:custGeom>
              <a:avLst/>
              <a:gdLst>
                <a:gd name="connsiteX0" fmla="*/ 0 w 436410"/>
                <a:gd name="connsiteY0" fmla="*/ 0 h 895350"/>
                <a:gd name="connsiteX1" fmla="*/ 436410 w 436410"/>
                <a:gd name="connsiteY1" fmla="*/ 0 h 895350"/>
                <a:gd name="connsiteX2" fmla="*/ 250915 w 436410"/>
                <a:gd name="connsiteY2" fmla="*/ 895350 h 895350"/>
                <a:gd name="connsiteX3" fmla="*/ 0 w 436410"/>
                <a:gd name="connsiteY3" fmla="*/ 895350 h 895350"/>
              </a:gdLst>
              <a:ahLst/>
              <a:cxnLst>
                <a:cxn ang="0">
                  <a:pos x="connsiteX0" y="connsiteY0"/>
                </a:cxn>
                <a:cxn ang="0">
                  <a:pos x="connsiteX1" y="connsiteY1"/>
                </a:cxn>
                <a:cxn ang="0">
                  <a:pos x="connsiteX2" y="connsiteY2"/>
                </a:cxn>
                <a:cxn ang="0">
                  <a:pos x="connsiteX3" y="connsiteY3"/>
                </a:cxn>
              </a:cxnLst>
              <a:rect l="l" t="t" r="r" b="b"/>
              <a:pathLst>
                <a:path w="436410" h="895350">
                  <a:moveTo>
                    <a:pt x="0" y="0"/>
                  </a:moveTo>
                  <a:lnTo>
                    <a:pt x="436410" y="0"/>
                  </a:lnTo>
                  <a:lnTo>
                    <a:pt x="250915" y="895350"/>
                  </a:lnTo>
                  <a:lnTo>
                    <a:pt x="0" y="8953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任意多边形: 形状 57">
              <a:extLst>
                <a:ext uri="{FF2B5EF4-FFF2-40B4-BE49-F238E27FC236}">
                  <a16:creationId xmlns:a16="http://schemas.microsoft.com/office/drawing/2014/main" id="{0B39D90D-B980-4ADB-95FB-F043B008E76D}"/>
                </a:ext>
              </a:extLst>
            </p:cNvPr>
            <p:cNvSpPr/>
            <p:nvPr userDrawn="1"/>
          </p:nvSpPr>
          <p:spPr>
            <a:xfrm>
              <a:off x="417309" y="379233"/>
              <a:ext cx="96622" cy="221903"/>
            </a:xfrm>
            <a:custGeom>
              <a:avLst/>
              <a:gdLst>
                <a:gd name="connsiteX0" fmla="*/ 144879 w 185359"/>
                <a:gd name="connsiteY0" fmla="*/ 0 h 699303"/>
                <a:gd name="connsiteX1" fmla="*/ 185359 w 185359"/>
                <a:gd name="connsiteY1" fmla="*/ 0 h 699303"/>
                <a:gd name="connsiteX2" fmla="*/ 40480 w 185359"/>
                <a:gd name="connsiteY2" fmla="*/ 699303 h 699303"/>
                <a:gd name="connsiteX3" fmla="*/ 0 w 185359"/>
                <a:gd name="connsiteY3" fmla="*/ 699303 h 699303"/>
              </a:gdLst>
              <a:ahLst/>
              <a:cxnLst>
                <a:cxn ang="0">
                  <a:pos x="connsiteX0" y="connsiteY0"/>
                </a:cxn>
                <a:cxn ang="0">
                  <a:pos x="connsiteX1" y="connsiteY1"/>
                </a:cxn>
                <a:cxn ang="0">
                  <a:pos x="connsiteX2" y="connsiteY2"/>
                </a:cxn>
                <a:cxn ang="0">
                  <a:pos x="connsiteX3" y="connsiteY3"/>
                </a:cxn>
              </a:cxnLst>
              <a:rect l="l" t="t" r="r" b="b"/>
              <a:pathLst>
                <a:path w="185359" h="699303">
                  <a:moveTo>
                    <a:pt x="144879" y="0"/>
                  </a:moveTo>
                  <a:lnTo>
                    <a:pt x="185359" y="0"/>
                  </a:lnTo>
                  <a:lnTo>
                    <a:pt x="40480" y="699303"/>
                  </a:lnTo>
                  <a:lnTo>
                    <a:pt x="0" y="699303"/>
                  </a:lnTo>
                  <a:close/>
                </a:path>
              </a:pathLst>
            </a:cu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7" name="直接连接符 86">
            <a:extLst>
              <a:ext uri="{FF2B5EF4-FFF2-40B4-BE49-F238E27FC236}">
                <a16:creationId xmlns:a16="http://schemas.microsoft.com/office/drawing/2014/main" id="{1375EC85-F9E6-44D2-9F15-53B5B6F75476}"/>
              </a:ext>
            </a:extLst>
          </p:cNvPr>
          <p:cNvCxnSpPr>
            <a:cxnSpLocks/>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8" name="矩形 87">
            <a:extLst>
              <a:ext uri="{FF2B5EF4-FFF2-40B4-BE49-F238E27FC236}">
                <a16:creationId xmlns:a16="http://schemas.microsoft.com/office/drawing/2014/main" id="{CE6666C3-355D-4A5C-A830-6BBD90D5F1FE}"/>
              </a:ext>
            </a:extLst>
          </p:cNvPr>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3" name="组合 82"/>
          <p:cNvGrpSpPr/>
          <p:nvPr userDrawn="1"/>
        </p:nvGrpSpPr>
        <p:grpSpPr>
          <a:xfrm>
            <a:off x="587288" y="6381747"/>
            <a:ext cx="2479573" cy="304965"/>
            <a:chOff x="671368" y="6061309"/>
            <a:chExt cx="2479573" cy="304965"/>
          </a:xfrm>
          <a:solidFill>
            <a:schemeClr val="accent3"/>
          </a:solidFill>
        </p:grpSpPr>
        <p:grpSp>
          <p:nvGrpSpPr>
            <p:cNvPr id="84" name="组合 83"/>
            <p:cNvGrpSpPr/>
            <p:nvPr userDrawn="1"/>
          </p:nvGrpSpPr>
          <p:grpSpPr>
            <a:xfrm>
              <a:off x="2098445" y="6064781"/>
              <a:ext cx="1052496" cy="298683"/>
              <a:chOff x="2373567" y="1096524"/>
              <a:chExt cx="2578404" cy="731714"/>
            </a:xfrm>
            <a:grpFill/>
          </p:grpSpPr>
          <p:sp>
            <p:nvSpPr>
              <p:cNvPr id="104"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5"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06" name="组合 105">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111"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7" name="组合 106">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108"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9" name="组合 88"/>
            <p:cNvGrpSpPr/>
            <p:nvPr userDrawn="1"/>
          </p:nvGrpSpPr>
          <p:grpSpPr>
            <a:xfrm>
              <a:off x="671368" y="6061309"/>
              <a:ext cx="1100339" cy="304965"/>
              <a:chOff x="2372715" y="161759"/>
              <a:chExt cx="2695608" cy="747103"/>
            </a:xfrm>
            <a:grpFill/>
          </p:grpSpPr>
          <p:grpSp>
            <p:nvGrpSpPr>
              <p:cNvPr id="91" name="组合 90">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102"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2" name="组合 91">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100"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3" name="组合 92">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97"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4" name="组合 93"/>
              <p:cNvGrpSpPr/>
              <p:nvPr/>
            </p:nvGrpSpPr>
            <p:grpSpPr>
              <a:xfrm>
                <a:off x="4613362" y="313351"/>
                <a:ext cx="454961" cy="453362"/>
                <a:chOff x="11893465" y="1994536"/>
                <a:chExt cx="274986" cy="274018"/>
              </a:xfrm>
              <a:grpFill/>
            </p:grpSpPr>
            <p:sp>
              <p:nvSpPr>
                <p:cNvPr id="9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2915878590"/>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页样式2-一段一图-1">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3" name="组合 82"/>
          <p:cNvGrpSpPr/>
          <p:nvPr userDrawn="1"/>
        </p:nvGrpSpPr>
        <p:grpSpPr>
          <a:xfrm>
            <a:off x="587288" y="6381747"/>
            <a:ext cx="2479573" cy="304965"/>
            <a:chOff x="671368" y="6061309"/>
            <a:chExt cx="2479573" cy="304965"/>
          </a:xfrm>
          <a:solidFill>
            <a:schemeClr val="accent3"/>
          </a:solidFill>
        </p:grpSpPr>
        <p:grpSp>
          <p:nvGrpSpPr>
            <p:cNvPr id="84" name="组合 83"/>
            <p:cNvGrpSpPr/>
            <p:nvPr userDrawn="1"/>
          </p:nvGrpSpPr>
          <p:grpSpPr>
            <a:xfrm>
              <a:off x="2098445" y="6064781"/>
              <a:ext cx="1052496" cy="298683"/>
              <a:chOff x="2373567" y="1096524"/>
              <a:chExt cx="2578404" cy="731714"/>
            </a:xfrm>
            <a:grpFill/>
          </p:grpSpPr>
          <p:sp>
            <p:nvSpPr>
              <p:cNvPr id="104"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5"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06" name="组合 105">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111"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7" name="组合 106">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108"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9" name="组合 88"/>
            <p:cNvGrpSpPr/>
            <p:nvPr userDrawn="1"/>
          </p:nvGrpSpPr>
          <p:grpSpPr>
            <a:xfrm>
              <a:off x="671368" y="6061309"/>
              <a:ext cx="1100339" cy="304965"/>
              <a:chOff x="2372715" y="161759"/>
              <a:chExt cx="2695608" cy="747103"/>
            </a:xfrm>
            <a:grpFill/>
          </p:grpSpPr>
          <p:grpSp>
            <p:nvGrpSpPr>
              <p:cNvPr id="91" name="组合 90">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102"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2" name="组合 91">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100"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3" name="组合 92">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97"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4" name="组合 93"/>
              <p:cNvGrpSpPr/>
              <p:nvPr/>
            </p:nvGrpSpPr>
            <p:grpSpPr>
              <a:xfrm>
                <a:off x="4613362" y="313351"/>
                <a:ext cx="454961" cy="453362"/>
                <a:chOff x="11893465" y="1994536"/>
                <a:chExt cx="274986" cy="274018"/>
              </a:xfrm>
              <a:grpFill/>
            </p:grpSpPr>
            <p:sp>
              <p:nvSpPr>
                <p:cNvPr id="9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36" name="标题 11">
            <a:extLst>
              <a:ext uri="{FF2B5EF4-FFF2-40B4-BE49-F238E27FC236}">
                <a16:creationId xmlns:a16="http://schemas.microsoft.com/office/drawing/2014/main" id="{C75E756C-98CD-4DE4-BB41-9C72D0D63F70}"/>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2571289201"/>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页样式2-一段一图-2">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sp>
        <p:nvSpPr>
          <p:cNvPr id="88" name="矩形 87">
            <a:extLst>
              <a:ext uri="{FF2B5EF4-FFF2-40B4-BE49-F238E27FC236}">
                <a16:creationId xmlns:a16="http://schemas.microsoft.com/office/drawing/2014/main" id="{CE6666C3-355D-4A5C-A830-6BBD90D5F1FE}"/>
              </a:ext>
            </a:extLst>
          </p:cNvPr>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790193" y="252089"/>
            <a:ext cx="1969223" cy="432990"/>
          </a:xfrm>
          <a:prstGeom prst="rect">
            <a:avLst/>
          </a:prstGeom>
        </p:spPr>
      </p:pic>
    </p:spTree>
    <p:extLst>
      <p:ext uri="{BB962C8B-B14F-4D97-AF65-F5344CB8AC3E}">
        <p14:creationId xmlns:p14="http://schemas.microsoft.com/office/powerpoint/2010/main" val="3446186887"/>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页样式3-常规">
    <p:spTree>
      <p:nvGrpSpPr>
        <p:cNvPr id="1" name=""/>
        <p:cNvGrpSpPr/>
        <p:nvPr/>
      </p:nvGrpSpPr>
      <p:grpSpPr>
        <a:xfrm>
          <a:off x="0" y="0"/>
          <a:ext cx="0" cy="0"/>
          <a:chOff x="0" y="0"/>
          <a:chExt cx="0" cy="0"/>
        </a:xfrm>
      </p:grpSpPr>
      <p:sp>
        <p:nvSpPr>
          <p:cNvPr id="32" name="任意多边形: 形状 77">
            <a:extLst>
              <a:ext uri="{FF2B5EF4-FFF2-40B4-BE49-F238E27FC236}">
                <a16:creationId xmlns:a16="http://schemas.microsoft.com/office/drawing/2014/main" id="{234BC7E1-028A-4463-99ED-1994A3ADEC14}"/>
              </a:ext>
            </a:extLst>
          </p:cNvPr>
          <p:cNvSpPr/>
          <p:nvPr userDrawn="1"/>
        </p:nvSpPr>
        <p:spPr>
          <a:xfrm>
            <a:off x="10114068" y="210207"/>
            <a:ext cx="2789025" cy="573228"/>
          </a:xfrm>
          <a:custGeom>
            <a:avLst/>
            <a:gdLst>
              <a:gd name="connsiteX0" fmla="*/ 83399 w 1678507"/>
              <a:gd name="connsiteY0" fmla="*/ 0 h 573228"/>
              <a:gd name="connsiteX1" fmla="*/ 1678507 w 1678507"/>
              <a:gd name="connsiteY1" fmla="*/ 0 h 573228"/>
              <a:gd name="connsiteX2" fmla="*/ 1678507 w 1678507"/>
              <a:gd name="connsiteY2" fmla="*/ 573228 h 573228"/>
              <a:gd name="connsiteX3" fmla="*/ 0 w 1678507"/>
              <a:gd name="connsiteY3" fmla="*/ 573228 h 573228"/>
            </a:gdLst>
            <a:ahLst/>
            <a:cxnLst>
              <a:cxn ang="0">
                <a:pos x="connsiteX0" y="connsiteY0"/>
              </a:cxn>
              <a:cxn ang="0">
                <a:pos x="connsiteX1" y="connsiteY1"/>
              </a:cxn>
              <a:cxn ang="0">
                <a:pos x="connsiteX2" y="connsiteY2"/>
              </a:cxn>
              <a:cxn ang="0">
                <a:pos x="connsiteX3" y="connsiteY3"/>
              </a:cxn>
            </a:cxnLst>
            <a:rect l="l" t="t" r="r" b="b"/>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nchor="ctr">
            <a:noAutofit/>
          </a:bodyPr>
          <a:lstStyle/>
          <a:p>
            <a:pPr algn="ctr">
              <a:lnSpc>
                <a:spcPct val="120000"/>
              </a:lnSpc>
            </a:pPr>
            <a:endParaRPr lang="zh-CN" altLang="en-US" dirty="0">
              <a:cs typeface="+mn-ea"/>
              <a:sym typeface="+mn-lt"/>
            </a:endParaRPr>
          </a:p>
        </p:txBody>
      </p:sp>
      <p:sp>
        <p:nvSpPr>
          <p:cNvPr id="4" name="平行四边形 3">
            <a:extLst>
              <a:ext uri="{FF2B5EF4-FFF2-40B4-BE49-F238E27FC236}">
                <a16:creationId xmlns:a16="http://schemas.microsoft.com/office/drawing/2014/main" id="{91BC6857-420C-4F20-ABBF-78DDE1D9F36B}"/>
              </a:ext>
            </a:extLst>
          </p:cNvPr>
          <p:cNvSpPr/>
          <p:nvPr userDrawn="1"/>
        </p:nvSpPr>
        <p:spPr>
          <a:xfrm>
            <a:off x="198120" y="302341"/>
            <a:ext cx="746398" cy="342128"/>
          </a:xfrm>
          <a:prstGeom prst="parallelogram">
            <a:avLst>
              <a:gd name="adj" fmla="val 25000"/>
            </a:avLst>
          </a:prstGeom>
          <a:solidFill>
            <a:schemeClr val="accent4"/>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lnSpc>
                <a:spcPct val="120000"/>
              </a:lnSpc>
            </a:pPr>
            <a:endParaRPr lang="zh-CN" altLang="en-US">
              <a:cs typeface="+mn-ea"/>
              <a:sym typeface="+mn-lt"/>
            </a:endParaRPr>
          </a:p>
        </p:txBody>
      </p:sp>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96" name="直接连接符 95">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标题 11"/>
          <p:cNvSpPr>
            <a:spLocks noGrp="1"/>
          </p:cNvSpPr>
          <p:nvPr>
            <p:ph type="title"/>
          </p:nvPr>
        </p:nvSpPr>
        <p:spPr>
          <a:xfrm>
            <a:off x="949325"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pic>
        <p:nvPicPr>
          <p:cNvPr id="98" name="图片 9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277475" y="241566"/>
            <a:ext cx="1819275" cy="509219"/>
          </a:xfrm>
          <a:prstGeom prst="rect">
            <a:avLst/>
          </a:prstGeom>
        </p:spPr>
      </p:pic>
      <p:grpSp>
        <p:nvGrpSpPr>
          <p:cNvPr id="33" name="组合 32"/>
          <p:cNvGrpSpPr/>
          <p:nvPr userDrawn="1"/>
        </p:nvGrpSpPr>
        <p:grpSpPr>
          <a:xfrm>
            <a:off x="587288" y="6381747"/>
            <a:ext cx="2479573" cy="304965"/>
            <a:chOff x="671368" y="6061309"/>
            <a:chExt cx="2479573" cy="304965"/>
          </a:xfrm>
          <a:solidFill>
            <a:schemeClr val="accent3"/>
          </a:solidFill>
        </p:grpSpPr>
        <p:grpSp>
          <p:nvGrpSpPr>
            <p:cNvPr id="34" name="组合 33"/>
            <p:cNvGrpSpPr/>
            <p:nvPr userDrawn="1"/>
          </p:nvGrpSpPr>
          <p:grpSpPr>
            <a:xfrm>
              <a:off x="2098445" y="6064781"/>
              <a:ext cx="1052496" cy="298683"/>
              <a:chOff x="2373567" y="1096524"/>
              <a:chExt cx="2578404" cy="731714"/>
            </a:xfrm>
            <a:grpFill/>
          </p:grpSpPr>
          <p:sp>
            <p:nvSpPr>
              <p:cNvPr id="49"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1" name="组合 50">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56"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2" name="组合 51">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53"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5" name="组合 34"/>
            <p:cNvGrpSpPr/>
            <p:nvPr userDrawn="1"/>
          </p:nvGrpSpPr>
          <p:grpSpPr>
            <a:xfrm>
              <a:off x="671368" y="6061309"/>
              <a:ext cx="1100339" cy="304965"/>
              <a:chOff x="2372715" y="161759"/>
              <a:chExt cx="2695608" cy="747103"/>
            </a:xfrm>
            <a:grpFill/>
          </p:grpSpPr>
          <p:grpSp>
            <p:nvGrpSpPr>
              <p:cNvPr id="36" name="组合 35">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47"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组合 36">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45"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8" name="组合 37">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42"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9" name="组合 38"/>
              <p:cNvGrpSpPr/>
              <p:nvPr/>
            </p:nvGrpSpPr>
            <p:grpSpPr>
              <a:xfrm>
                <a:off x="4613362" y="313351"/>
                <a:ext cx="454961" cy="453362"/>
                <a:chOff x="11893465" y="1994536"/>
                <a:chExt cx="274986" cy="274018"/>
              </a:xfrm>
              <a:grpFill/>
            </p:grpSpPr>
            <p:sp>
              <p:nvSpPr>
                <p:cNvPr id="40"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140704800"/>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页样式3-一段一图-1">
    <p:spTree>
      <p:nvGrpSpPr>
        <p:cNvPr id="1" name=""/>
        <p:cNvGrpSpPr/>
        <p:nvPr/>
      </p:nvGrpSpPr>
      <p:grpSpPr>
        <a:xfrm>
          <a:off x="0" y="0"/>
          <a:ext cx="0" cy="0"/>
          <a:chOff x="0" y="0"/>
          <a:chExt cx="0" cy="0"/>
        </a:xfrm>
      </p:grpSpPr>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96" name="直接连接符 95">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标题 11"/>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grpSp>
        <p:nvGrpSpPr>
          <p:cNvPr id="33" name="组合 32"/>
          <p:cNvGrpSpPr/>
          <p:nvPr userDrawn="1"/>
        </p:nvGrpSpPr>
        <p:grpSpPr>
          <a:xfrm>
            <a:off x="587288" y="6381747"/>
            <a:ext cx="2479573" cy="304965"/>
            <a:chOff x="671368" y="6061309"/>
            <a:chExt cx="2479573" cy="304965"/>
          </a:xfrm>
          <a:solidFill>
            <a:schemeClr val="accent3"/>
          </a:solidFill>
        </p:grpSpPr>
        <p:grpSp>
          <p:nvGrpSpPr>
            <p:cNvPr id="34" name="组合 33"/>
            <p:cNvGrpSpPr/>
            <p:nvPr userDrawn="1"/>
          </p:nvGrpSpPr>
          <p:grpSpPr>
            <a:xfrm>
              <a:off x="2098445" y="6064781"/>
              <a:ext cx="1052496" cy="298683"/>
              <a:chOff x="2373567" y="1096524"/>
              <a:chExt cx="2578404" cy="731714"/>
            </a:xfrm>
            <a:grpFill/>
          </p:grpSpPr>
          <p:sp>
            <p:nvSpPr>
              <p:cNvPr id="49"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1" name="组合 50">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56"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2" name="组合 51">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53"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5" name="组合 34"/>
            <p:cNvGrpSpPr/>
            <p:nvPr userDrawn="1"/>
          </p:nvGrpSpPr>
          <p:grpSpPr>
            <a:xfrm>
              <a:off x="671368" y="6061309"/>
              <a:ext cx="1100339" cy="304965"/>
              <a:chOff x="2372715" y="161759"/>
              <a:chExt cx="2695608" cy="747103"/>
            </a:xfrm>
            <a:grpFill/>
          </p:grpSpPr>
          <p:grpSp>
            <p:nvGrpSpPr>
              <p:cNvPr id="36" name="组合 35">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47"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组合 36">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45"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8" name="组合 37">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42"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9" name="组合 38"/>
              <p:cNvGrpSpPr/>
              <p:nvPr/>
            </p:nvGrpSpPr>
            <p:grpSpPr>
              <a:xfrm>
                <a:off x="4613362" y="313351"/>
                <a:ext cx="454961" cy="453362"/>
                <a:chOff x="11893465" y="1994536"/>
                <a:chExt cx="274986" cy="274018"/>
              </a:xfrm>
              <a:grpFill/>
            </p:grpSpPr>
            <p:sp>
              <p:nvSpPr>
                <p:cNvPr id="40"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2452849380"/>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页样式４-常规">
    <p:spTree>
      <p:nvGrpSpPr>
        <p:cNvPr id="1" name=""/>
        <p:cNvGrpSpPr/>
        <p:nvPr/>
      </p:nvGrpSpPr>
      <p:grpSpPr>
        <a:xfrm>
          <a:off x="0" y="0"/>
          <a:ext cx="0" cy="0"/>
          <a:chOff x="0" y="0"/>
          <a:chExt cx="0" cy="0"/>
        </a:xfrm>
      </p:grpSpPr>
      <p:cxnSp>
        <p:nvCxnSpPr>
          <p:cNvPr id="2" name="直接连接符 1"/>
          <p:cNvCxnSpPr/>
          <p:nvPr userDrawn="1"/>
        </p:nvCxnSpPr>
        <p:spPr>
          <a:xfrm>
            <a:off x="1366474" y="863157"/>
            <a:ext cx="1050223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a:extLst>
              <a:ext uri="{FF2B5EF4-FFF2-40B4-BE49-F238E27FC236}">
                <a16:creationId xmlns:a16="http://schemas.microsoft.com/office/drawing/2014/main" id="{C10D966C-9DD4-4144-A316-29077EB905B4}"/>
              </a:ext>
            </a:extLst>
          </p:cNvPr>
          <p:cNvSpPr/>
          <p:nvPr userDrawn="1"/>
        </p:nvSpPr>
        <p:spPr>
          <a:xfrm>
            <a:off x="318632" y="0"/>
            <a:ext cx="1048735" cy="873125"/>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368806"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5" name="矩形 4">
            <a:extLst>
              <a:ext uri="{FF2B5EF4-FFF2-40B4-BE49-F238E27FC236}">
                <a16:creationId xmlns:a16="http://schemas.microsoft.com/office/drawing/2014/main" id="{6833366C-F485-4B9F-89F5-27A807162B12}"/>
              </a:ext>
            </a:extLst>
          </p:cNvPr>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6632" y="6351003"/>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图片 14"/>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409575" y="6269038"/>
            <a:ext cx="18176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0552528"/>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页样式４-一段一图-1">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a:extLst>
              <a:ext uri="{FF2B5EF4-FFF2-40B4-BE49-F238E27FC236}">
                <a16:creationId xmlns:a16="http://schemas.microsoft.com/office/drawing/2014/main" id="{6833366C-F485-4B9F-89F5-27A807162B12}"/>
              </a:ext>
            </a:extLst>
          </p:cNvPr>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6632" y="6351003"/>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60" name="图片 14"/>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409575" y="6269038"/>
            <a:ext cx="18176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标题 11">
            <a:extLst>
              <a:ext uri="{FF2B5EF4-FFF2-40B4-BE49-F238E27FC236}">
                <a16:creationId xmlns:a16="http://schemas.microsoft.com/office/drawing/2014/main" id="{B751A2AD-C679-48C2-AFF3-1AB781A3D02A}"/>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531838363"/>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页样式４-一段一图-2">
    <p:spTree>
      <p:nvGrpSpPr>
        <p:cNvPr id="1" name=""/>
        <p:cNvGrpSpPr/>
        <p:nvPr/>
      </p:nvGrpSpPr>
      <p:grpSpPr>
        <a:xfrm>
          <a:off x="0" y="0"/>
          <a:ext cx="0" cy="0"/>
          <a:chOff x="0" y="0"/>
          <a:chExt cx="0" cy="0"/>
        </a:xfrm>
      </p:grpSpPr>
      <p:cxnSp>
        <p:nvCxnSpPr>
          <p:cNvPr id="2" name="直接连接符 1"/>
          <p:cNvCxnSpPr/>
          <p:nvPr userDrawn="1"/>
        </p:nvCxnSpPr>
        <p:spPr>
          <a:xfrm>
            <a:off x="10185149" y="863157"/>
            <a:ext cx="16835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7040181"/>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页样式5-常规">
    <p:spTree>
      <p:nvGrpSpPr>
        <p:cNvPr id="1" name=""/>
        <p:cNvGrpSpPr/>
        <p:nvPr/>
      </p:nvGrpSpPr>
      <p:grpSpPr>
        <a:xfrm>
          <a:off x="0" y="0"/>
          <a:ext cx="0" cy="0"/>
          <a:chOff x="0" y="0"/>
          <a:chExt cx="0" cy="0"/>
        </a:xfrm>
      </p:grpSpPr>
      <p:sp>
        <p:nvSpPr>
          <p:cNvPr id="12" name="标题 11"/>
          <p:cNvSpPr>
            <a:spLocks noGrp="1"/>
          </p:cNvSpPr>
          <p:nvPr>
            <p:ph type="title"/>
          </p:nvPr>
        </p:nvSpPr>
        <p:spPr>
          <a:xfrm>
            <a:off x="749863"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57" name="图片 56"/>
          <p:cNvPicPr>
            <a:picLocks noChangeAspect="1"/>
          </p:cNvPicPr>
          <p:nvPr userDrawn="1"/>
        </p:nvPicPr>
        <p:blipFill rotWithShape="1">
          <a:blip r:embed="rId2" cstate="print">
            <a:extLst>
              <a:ext uri="{28A0092B-C50C-407E-A947-70E740481C1C}">
                <a14:useLocalDpi xmlns:a14="http://schemas.microsoft.com/office/drawing/2010/main"/>
              </a:ext>
            </a:extLst>
          </a:blip>
          <a:srcRect l="-333"/>
          <a:stretch/>
        </p:blipFill>
        <p:spPr>
          <a:xfrm>
            <a:off x="11282579" y="252089"/>
            <a:ext cx="432990" cy="432990"/>
          </a:xfrm>
          <a:prstGeom prst="rect">
            <a:avLst/>
          </a:prstGeom>
        </p:spPr>
      </p:pic>
      <p:cxnSp>
        <p:nvCxnSpPr>
          <p:cNvPr id="87" name="直接连接符 86">
            <a:extLst>
              <a:ext uri="{FF2B5EF4-FFF2-40B4-BE49-F238E27FC236}">
                <a16:creationId xmlns:a16="http://schemas.microsoft.com/office/drawing/2014/main" id="{1375EC85-F9E6-44D2-9F15-53B5B6F75476}"/>
              </a:ext>
            </a:extLst>
          </p:cNvPr>
          <p:cNvCxnSpPr>
            <a:cxnSpLocks/>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511603" y="253621"/>
            <a:ext cx="1221064" cy="438825"/>
            <a:chOff x="-529708" y="381991"/>
            <a:chExt cx="1221064" cy="438825"/>
          </a:xfrm>
        </p:grpSpPr>
        <p:sp>
          <p:nvSpPr>
            <p:cNvPr id="58" name="梯形 57">
              <a:extLst>
                <a:ext uri="{FF2B5EF4-FFF2-40B4-BE49-F238E27FC236}">
                  <a16:creationId xmlns:a16="http://schemas.microsoft.com/office/drawing/2014/main" id="{5065A524-15E6-4769-B9ED-7868E19ADB1E}"/>
                </a:ext>
              </a:extLst>
            </p:cNvPr>
            <p:cNvSpPr/>
            <p:nvPr userDrawn="1"/>
          </p:nvSpPr>
          <p:spPr>
            <a:xfrm rot="16200000">
              <a:off x="-107121" y="-40596"/>
              <a:ext cx="375890" cy="1221064"/>
            </a:xfrm>
            <a:prstGeom prst="trapezoid">
              <a:avLst>
                <a:gd name="adj" fmla="val 7230"/>
              </a:avLst>
            </a:prstGeom>
            <a:gradFill>
              <a:gsLst>
                <a:gs pos="100000">
                  <a:schemeClr val="accent1"/>
                </a:gs>
                <a:gs pos="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梯形 58">
              <a:extLst>
                <a:ext uri="{FF2B5EF4-FFF2-40B4-BE49-F238E27FC236}">
                  <a16:creationId xmlns:a16="http://schemas.microsoft.com/office/drawing/2014/main" id="{AC403C93-604F-4B72-B919-463ACA49C29B}"/>
                </a:ext>
              </a:extLst>
            </p:cNvPr>
            <p:cNvSpPr/>
            <p:nvPr userDrawn="1"/>
          </p:nvSpPr>
          <p:spPr>
            <a:xfrm rot="16200000">
              <a:off x="-79397" y="146495"/>
              <a:ext cx="267255" cy="1058332"/>
            </a:xfrm>
            <a:prstGeom prst="trapezoid">
              <a:avLst>
                <a:gd name="adj" fmla="val 723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梯形 59">
              <a:extLst>
                <a:ext uri="{FF2B5EF4-FFF2-40B4-BE49-F238E27FC236}">
                  <a16:creationId xmlns:a16="http://schemas.microsoft.com/office/drawing/2014/main" id="{AC403C93-604F-4B72-B919-463ACA49C29B}"/>
                </a:ext>
              </a:extLst>
            </p:cNvPr>
            <p:cNvSpPr/>
            <p:nvPr userDrawn="1"/>
          </p:nvSpPr>
          <p:spPr>
            <a:xfrm rot="16200000">
              <a:off x="-95133" y="158023"/>
              <a:ext cx="267255" cy="1058332"/>
            </a:xfrm>
            <a:prstGeom prst="trapezoid">
              <a:avLst>
                <a:gd name="adj" fmla="val 7230"/>
              </a:avLst>
            </a:prstGeom>
            <a:gradFill flip="none" rotWithShape="1">
              <a:gsLst>
                <a:gs pos="100000">
                  <a:schemeClr val="accent4"/>
                </a:gs>
                <a:gs pos="0">
                  <a:schemeClr val="accent4">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60"/>
          <p:cNvGrpSpPr/>
          <p:nvPr userDrawn="1"/>
        </p:nvGrpSpPr>
        <p:grpSpPr>
          <a:xfrm>
            <a:off x="587288" y="6381747"/>
            <a:ext cx="2479573" cy="304965"/>
            <a:chOff x="671368" y="6061309"/>
            <a:chExt cx="2479573" cy="304965"/>
          </a:xfrm>
          <a:solidFill>
            <a:schemeClr val="accent3"/>
          </a:solidFill>
        </p:grpSpPr>
        <p:grpSp>
          <p:nvGrpSpPr>
            <p:cNvPr id="62" name="组合 61"/>
            <p:cNvGrpSpPr/>
            <p:nvPr userDrawn="1"/>
          </p:nvGrpSpPr>
          <p:grpSpPr>
            <a:xfrm>
              <a:off x="2098445" y="6064781"/>
              <a:ext cx="1052496" cy="298683"/>
              <a:chOff x="2373567" y="1096524"/>
              <a:chExt cx="2578404" cy="731714"/>
            </a:xfrm>
            <a:grpFill/>
          </p:grpSpPr>
          <p:sp>
            <p:nvSpPr>
              <p:cNvPr id="77"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79" name="组合 78">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84"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0" name="组合 79">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81"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63" name="组合 62"/>
            <p:cNvGrpSpPr/>
            <p:nvPr userDrawn="1"/>
          </p:nvGrpSpPr>
          <p:grpSpPr>
            <a:xfrm>
              <a:off x="671368" y="6061309"/>
              <a:ext cx="1100339" cy="304965"/>
              <a:chOff x="2372715" y="161759"/>
              <a:chExt cx="2695608" cy="747103"/>
            </a:xfrm>
            <a:grpFill/>
          </p:grpSpPr>
          <p:grpSp>
            <p:nvGrpSpPr>
              <p:cNvPr id="64" name="组合 63">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75"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5" name="组合 64">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73"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6" name="组合 65">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7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7" name="组合 66"/>
              <p:cNvGrpSpPr/>
              <p:nvPr/>
            </p:nvGrpSpPr>
            <p:grpSpPr>
              <a:xfrm>
                <a:off x="4613362" y="313351"/>
                <a:ext cx="454961" cy="453362"/>
                <a:chOff x="11893465" y="1994536"/>
                <a:chExt cx="274986" cy="274018"/>
              </a:xfrm>
              <a:grpFill/>
            </p:grpSpPr>
            <p:sp>
              <p:nvSpPr>
                <p:cNvPr id="68"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128630957"/>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页样式5-一段一图-1">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1" name="组合 60"/>
          <p:cNvGrpSpPr/>
          <p:nvPr userDrawn="1"/>
        </p:nvGrpSpPr>
        <p:grpSpPr>
          <a:xfrm>
            <a:off x="587288" y="6381747"/>
            <a:ext cx="2479573" cy="304965"/>
            <a:chOff x="671368" y="6061309"/>
            <a:chExt cx="2479573" cy="304965"/>
          </a:xfrm>
          <a:solidFill>
            <a:schemeClr val="accent3"/>
          </a:solidFill>
        </p:grpSpPr>
        <p:grpSp>
          <p:nvGrpSpPr>
            <p:cNvPr id="62" name="组合 61"/>
            <p:cNvGrpSpPr/>
            <p:nvPr userDrawn="1"/>
          </p:nvGrpSpPr>
          <p:grpSpPr>
            <a:xfrm>
              <a:off x="2098445" y="6064781"/>
              <a:ext cx="1052496" cy="298683"/>
              <a:chOff x="2373567" y="1096524"/>
              <a:chExt cx="2578404" cy="731714"/>
            </a:xfrm>
            <a:grpFill/>
          </p:grpSpPr>
          <p:sp>
            <p:nvSpPr>
              <p:cNvPr id="77"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79" name="组合 78">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84"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0" name="组合 79">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81"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63" name="组合 62"/>
            <p:cNvGrpSpPr/>
            <p:nvPr userDrawn="1"/>
          </p:nvGrpSpPr>
          <p:grpSpPr>
            <a:xfrm>
              <a:off x="671368" y="6061309"/>
              <a:ext cx="1100339" cy="304965"/>
              <a:chOff x="2372715" y="161759"/>
              <a:chExt cx="2695608" cy="747103"/>
            </a:xfrm>
            <a:grpFill/>
          </p:grpSpPr>
          <p:grpSp>
            <p:nvGrpSpPr>
              <p:cNvPr id="64" name="组合 63">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75"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5" name="组合 64">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73"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6" name="组合 65">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7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7" name="组合 66"/>
              <p:cNvGrpSpPr/>
              <p:nvPr/>
            </p:nvGrpSpPr>
            <p:grpSpPr>
              <a:xfrm>
                <a:off x="4613362" y="313351"/>
                <a:ext cx="454961" cy="453362"/>
                <a:chOff x="11893465" y="1994536"/>
                <a:chExt cx="274986" cy="274018"/>
              </a:xfrm>
              <a:grpFill/>
            </p:grpSpPr>
            <p:sp>
              <p:nvSpPr>
                <p:cNvPr id="68"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36" name="标题 11">
            <a:extLst>
              <a:ext uri="{FF2B5EF4-FFF2-40B4-BE49-F238E27FC236}">
                <a16:creationId xmlns:a16="http://schemas.microsoft.com/office/drawing/2014/main" id="{C0F4148E-045B-44EE-8A4E-88B14DCC5EAE}"/>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2785128137"/>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页样式5-一段一图-2">
    <p:spTree>
      <p:nvGrpSpPr>
        <p:cNvPr id="1" name=""/>
        <p:cNvGrpSpPr/>
        <p:nvPr/>
      </p:nvGrpSpPr>
      <p:grpSpPr>
        <a:xfrm>
          <a:off x="0" y="0"/>
          <a:ext cx="0" cy="0"/>
          <a:chOff x="0" y="0"/>
          <a:chExt cx="0" cy="0"/>
        </a:xfrm>
      </p:grpSpPr>
      <p:sp>
        <p:nvSpPr>
          <p:cNvPr id="61" name="文本框 6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86" name="图片 85"/>
          <p:cNvPicPr>
            <a:picLocks noChangeAspect="1"/>
          </p:cNvPicPr>
          <p:nvPr userDrawn="1"/>
        </p:nvPicPr>
        <p:blipFill rotWithShape="1">
          <a:blip r:embed="rId2" cstate="print">
            <a:extLst>
              <a:ext uri="{28A0092B-C50C-407E-A947-70E740481C1C}">
                <a14:useLocalDpi xmlns:a14="http://schemas.microsoft.com/office/drawing/2010/main"/>
              </a:ext>
            </a:extLst>
          </a:blip>
          <a:srcRect l="-333"/>
          <a:stretch/>
        </p:blipFill>
        <p:spPr>
          <a:xfrm>
            <a:off x="11282579" y="252089"/>
            <a:ext cx="432990" cy="432990"/>
          </a:xfrm>
          <a:prstGeom prst="rect">
            <a:avLst/>
          </a:prstGeom>
        </p:spPr>
      </p:pic>
    </p:spTree>
    <p:extLst>
      <p:ext uri="{BB962C8B-B14F-4D97-AF65-F5344CB8AC3E}">
        <p14:creationId xmlns:p14="http://schemas.microsoft.com/office/powerpoint/2010/main" val="1817350804"/>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页样式6-常规">
    <p:spTree>
      <p:nvGrpSpPr>
        <p:cNvPr id="1" name=""/>
        <p:cNvGrpSpPr/>
        <p:nvPr/>
      </p:nvGrpSpPr>
      <p:grpSpPr>
        <a:xfrm>
          <a:off x="0" y="0"/>
          <a:ext cx="0" cy="0"/>
          <a:chOff x="0" y="0"/>
          <a:chExt cx="0" cy="0"/>
        </a:xfrm>
      </p:grpSpPr>
      <p:sp>
        <p:nvSpPr>
          <p:cNvPr id="47" name="矩形 46"/>
          <p:cNvSpPr/>
          <p:nvPr userDrawn="1"/>
        </p:nvSpPr>
        <p:spPr>
          <a:xfrm>
            <a:off x="442912" y="-82551"/>
            <a:ext cx="11306175" cy="908709"/>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userDrawn="1"/>
        </p:nvSpPr>
        <p:spPr>
          <a:xfrm>
            <a:off x="442913" y="0"/>
            <a:ext cx="11306175" cy="8261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1"/>
          <p:cNvSpPr>
            <a:spLocks noGrp="1"/>
          </p:cNvSpPr>
          <p:nvPr>
            <p:ph type="title"/>
          </p:nvPr>
        </p:nvSpPr>
        <p:spPr>
          <a:xfrm>
            <a:off x="1173494" y="249067"/>
            <a:ext cx="8048203"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38" name="直接连接符 37">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2" name="图片 4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90168" y="252089"/>
            <a:ext cx="1969223" cy="432990"/>
          </a:xfrm>
          <a:prstGeom prst="rect">
            <a:avLst/>
          </a:prstGeom>
        </p:spPr>
      </p:pic>
      <p:grpSp>
        <p:nvGrpSpPr>
          <p:cNvPr id="46" name="组合 45"/>
          <p:cNvGrpSpPr/>
          <p:nvPr userDrawn="1"/>
        </p:nvGrpSpPr>
        <p:grpSpPr>
          <a:xfrm>
            <a:off x="637534" y="199773"/>
            <a:ext cx="463263" cy="481001"/>
            <a:chOff x="598941" y="128599"/>
            <a:chExt cx="463263" cy="481001"/>
          </a:xfrm>
        </p:grpSpPr>
        <p:sp>
          <p:nvSpPr>
            <p:cNvPr id="45" name="矩形 44"/>
            <p:cNvSpPr/>
            <p:nvPr userDrawn="1"/>
          </p:nvSpPr>
          <p:spPr>
            <a:xfrm>
              <a:off x="701671" y="249067"/>
              <a:ext cx="360533" cy="36053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userDrawn="1"/>
          </p:nvSpPr>
          <p:spPr>
            <a:xfrm>
              <a:off x="701671" y="247801"/>
              <a:ext cx="275115" cy="256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userDrawn="1"/>
          </p:nvSpPr>
          <p:spPr>
            <a:xfrm>
              <a:off x="598941" y="128599"/>
              <a:ext cx="360533" cy="3605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userDrawn="1"/>
        </p:nvGrpSpPr>
        <p:grpSpPr>
          <a:xfrm>
            <a:off x="587288" y="6381747"/>
            <a:ext cx="2479573" cy="304965"/>
            <a:chOff x="671368" y="6061309"/>
            <a:chExt cx="2479573" cy="304965"/>
          </a:xfrm>
          <a:solidFill>
            <a:schemeClr val="accent3"/>
          </a:solidFill>
        </p:grpSpPr>
        <p:grpSp>
          <p:nvGrpSpPr>
            <p:cNvPr id="37" name="组合 36"/>
            <p:cNvGrpSpPr/>
            <p:nvPr userDrawn="1"/>
          </p:nvGrpSpPr>
          <p:grpSpPr>
            <a:xfrm>
              <a:off x="2098445" y="6064781"/>
              <a:ext cx="1052496" cy="298683"/>
              <a:chOff x="2373567" y="1096524"/>
              <a:chExt cx="2578404" cy="731714"/>
            </a:xfrm>
            <a:grpFill/>
          </p:grpSpPr>
          <p:sp>
            <p:nvSpPr>
              <p:cNvPr id="60"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62" name="组合 61">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6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3" name="组合 62">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6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9" name="组合 38"/>
            <p:cNvGrpSpPr/>
            <p:nvPr userDrawn="1"/>
          </p:nvGrpSpPr>
          <p:grpSpPr>
            <a:xfrm>
              <a:off x="671368" y="6061309"/>
              <a:ext cx="1100339" cy="304965"/>
              <a:chOff x="2372715" y="161759"/>
              <a:chExt cx="2695608" cy="747103"/>
            </a:xfrm>
            <a:grpFill/>
          </p:grpSpPr>
          <p:grpSp>
            <p:nvGrpSpPr>
              <p:cNvPr id="40" name="组合 39">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5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8" name="组合 47">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5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9" name="组合 48">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5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p:cNvGrpSpPr/>
              <p:nvPr/>
            </p:nvGrpSpPr>
            <p:grpSpPr>
              <a:xfrm>
                <a:off x="4613362" y="313351"/>
                <a:ext cx="454961" cy="453362"/>
                <a:chOff x="11893465" y="1994536"/>
                <a:chExt cx="274986" cy="274018"/>
              </a:xfrm>
              <a:grpFill/>
            </p:grpSpPr>
            <p:sp>
              <p:nvSpPr>
                <p:cNvPr id="51"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4254199913"/>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页样式6-一段一图-1">
    <p:spTree>
      <p:nvGrpSpPr>
        <p:cNvPr id="1" name=""/>
        <p:cNvGrpSpPr/>
        <p:nvPr/>
      </p:nvGrpSpPr>
      <p:grpSpPr>
        <a:xfrm>
          <a:off x="0" y="0"/>
          <a:ext cx="0" cy="0"/>
          <a:chOff x="0" y="0"/>
          <a:chExt cx="0" cy="0"/>
        </a:xfrm>
      </p:grpSpPr>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38" name="直接连接符 37">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userDrawn="1"/>
        </p:nvGrpSpPr>
        <p:grpSpPr>
          <a:xfrm>
            <a:off x="587288" y="6381747"/>
            <a:ext cx="2479573" cy="304965"/>
            <a:chOff x="671368" y="6061309"/>
            <a:chExt cx="2479573" cy="304965"/>
          </a:xfrm>
          <a:solidFill>
            <a:schemeClr val="accent3"/>
          </a:solidFill>
        </p:grpSpPr>
        <p:grpSp>
          <p:nvGrpSpPr>
            <p:cNvPr id="37" name="组合 36"/>
            <p:cNvGrpSpPr/>
            <p:nvPr userDrawn="1"/>
          </p:nvGrpSpPr>
          <p:grpSpPr>
            <a:xfrm>
              <a:off x="2098445" y="6064781"/>
              <a:ext cx="1052496" cy="298683"/>
              <a:chOff x="2373567" y="1096524"/>
              <a:chExt cx="2578404" cy="731714"/>
            </a:xfrm>
            <a:grpFill/>
          </p:grpSpPr>
          <p:sp>
            <p:nvSpPr>
              <p:cNvPr id="60"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62" name="组合 61">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6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3" name="组合 62">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6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9" name="组合 38"/>
            <p:cNvGrpSpPr/>
            <p:nvPr userDrawn="1"/>
          </p:nvGrpSpPr>
          <p:grpSpPr>
            <a:xfrm>
              <a:off x="671368" y="6061309"/>
              <a:ext cx="1100339" cy="304965"/>
              <a:chOff x="2372715" y="161759"/>
              <a:chExt cx="2695608" cy="747103"/>
            </a:xfrm>
            <a:grpFill/>
          </p:grpSpPr>
          <p:grpSp>
            <p:nvGrpSpPr>
              <p:cNvPr id="40" name="组合 39">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5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8" name="组合 47">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5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9" name="组合 48">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5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p:cNvGrpSpPr/>
              <p:nvPr/>
            </p:nvGrpSpPr>
            <p:grpSpPr>
              <a:xfrm>
                <a:off x="4613362" y="313351"/>
                <a:ext cx="454961" cy="453362"/>
                <a:chOff x="11893465" y="1994536"/>
                <a:chExt cx="274986" cy="274018"/>
              </a:xfrm>
              <a:grpFill/>
            </p:grpSpPr>
            <p:sp>
              <p:nvSpPr>
                <p:cNvPr id="51"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69" name="标题 11">
            <a:extLst>
              <a:ext uri="{FF2B5EF4-FFF2-40B4-BE49-F238E27FC236}">
                <a16:creationId xmlns:a16="http://schemas.microsoft.com/office/drawing/2014/main" id="{0D0682F6-A194-4FB3-8EF2-674B6164F91F}"/>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98083071"/>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页样式6-一段一图-2">
    <p:spTree>
      <p:nvGrpSpPr>
        <p:cNvPr id="1" name=""/>
        <p:cNvGrpSpPr/>
        <p:nvPr/>
      </p:nvGrpSpPr>
      <p:grpSpPr>
        <a:xfrm>
          <a:off x="0" y="0"/>
          <a:ext cx="0" cy="0"/>
          <a:chOff x="0" y="0"/>
          <a:chExt cx="0" cy="0"/>
        </a:xfrm>
      </p:grpSpPr>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sp>
        <p:nvSpPr>
          <p:cNvPr id="35" name="矩形 34"/>
          <p:cNvSpPr/>
          <p:nvPr userDrawn="1"/>
        </p:nvSpPr>
        <p:spPr>
          <a:xfrm>
            <a:off x="9402184" y="-82800"/>
            <a:ext cx="2346903" cy="907200"/>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userDrawn="1"/>
        </p:nvSpPr>
        <p:spPr>
          <a:xfrm>
            <a:off x="9402184" y="0"/>
            <a:ext cx="2346904" cy="8261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90168" y="252089"/>
            <a:ext cx="1969223" cy="432990"/>
          </a:xfrm>
          <a:prstGeom prst="rect">
            <a:avLst/>
          </a:prstGeom>
        </p:spPr>
      </p:pic>
    </p:spTree>
    <p:extLst>
      <p:ext uri="{BB962C8B-B14F-4D97-AF65-F5344CB8AC3E}">
        <p14:creationId xmlns:p14="http://schemas.microsoft.com/office/powerpoint/2010/main" val="1898571909"/>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页样式7-常规">
    <p:spTree>
      <p:nvGrpSpPr>
        <p:cNvPr id="1" name=""/>
        <p:cNvGrpSpPr/>
        <p:nvPr/>
      </p:nvGrpSpPr>
      <p:grpSpPr>
        <a:xfrm>
          <a:off x="0" y="0"/>
          <a:ext cx="0" cy="0"/>
          <a:chOff x="0" y="0"/>
          <a:chExt cx="0" cy="0"/>
        </a:xfrm>
      </p:grpSpPr>
      <p:sp>
        <p:nvSpPr>
          <p:cNvPr id="2" name="平行四边形 1"/>
          <p:cNvSpPr/>
          <p:nvPr userDrawn="1"/>
        </p:nvSpPr>
        <p:spPr>
          <a:xfrm>
            <a:off x="658714" y="482300"/>
            <a:ext cx="748201" cy="484094"/>
          </a:xfrm>
          <a:prstGeom prst="parallelogram">
            <a:avLst>
              <a:gd name="adj" fmla="val 71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userDrawn="1"/>
        </p:nvSpPr>
        <p:spPr>
          <a:xfrm>
            <a:off x="442912" y="-82800"/>
            <a:ext cx="11306175" cy="846000"/>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userDrawn="1"/>
        </p:nvSpPr>
        <p:spPr>
          <a:xfrm>
            <a:off x="442913" y="0"/>
            <a:ext cx="11306175" cy="7626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1"/>
          <p:cNvSpPr>
            <a:spLocks noGrp="1"/>
          </p:cNvSpPr>
          <p:nvPr>
            <p:ph type="title"/>
          </p:nvPr>
        </p:nvSpPr>
        <p:spPr>
          <a:xfrm>
            <a:off x="1173494" y="185567"/>
            <a:ext cx="8048203"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38" name="直接连接符 37">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2" name="图片 4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90168" y="188589"/>
            <a:ext cx="1969223" cy="432990"/>
          </a:xfrm>
          <a:prstGeom prst="rect">
            <a:avLst/>
          </a:prstGeom>
        </p:spPr>
      </p:pic>
      <p:sp>
        <p:nvSpPr>
          <p:cNvPr id="43" name="矩形 42"/>
          <p:cNvSpPr/>
          <p:nvPr userDrawn="1"/>
        </p:nvSpPr>
        <p:spPr>
          <a:xfrm>
            <a:off x="648385" y="0"/>
            <a:ext cx="413819" cy="966395"/>
          </a:xfrm>
          <a:prstGeom prst="rect">
            <a:avLst/>
          </a:prstGeom>
          <a:ln>
            <a:noFill/>
          </a:ln>
          <a:effectLst>
            <a:outerShdw blurRad="127000" dist="25400" dir="5400000" sx="102000" sy="102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userDrawn="1"/>
        </p:nvGrpSpPr>
        <p:grpSpPr>
          <a:xfrm>
            <a:off x="587288" y="6381747"/>
            <a:ext cx="2479573" cy="304965"/>
            <a:chOff x="671368" y="6061309"/>
            <a:chExt cx="2479573" cy="304965"/>
          </a:xfrm>
          <a:solidFill>
            <a:schemeClr val="accent3"/>
          </a:solidFill>
        </p:grpSpPr>
        <p:grpSp>
          <p:nvGrpSpPr>
            <p:cNvPr id="35" name="组合 34"/>
            <p:cNvGrpSpPr/>
            <p:nvPr userDrawn="1"/>
          </p:nvGrpSpPr>
          <p:grpSpPr>
            <a:xfrm>
              <a:off x="2098445" y="6064781"/>
              <a:ext cx="1052496" cy="298683"/>
              <a:chOff x="2373567" y="1096524"/>
              <a:chExt cx="2578404" cy="731714"/>
            </a:xfrm>
            <a:grpFill/>
          </p:grpSpPr>
          <p:sp>
            <p:nvSpPr>
              <p:cNvPr id="55"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7" name="组合 56">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62"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8" name="组合 57">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59"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6" name="组合 35"/>
            <p:cNvGrpSpPr/>
            <p:nvPr userDrawn="1"/>
          </p:nvGrpSpPr>
          <p:grpSpPr>
            <a:xfrm>
              <a:off x="671368" y="6061309"/>
              <a:ext cx="1100339" cy="304965"/>
              <a:chOff x="2372715" y="161759"/>
              <a:chExt cx="2695608" cy="747103"/>
            </a:xfrm>
            <a:grpFill/>
          </p:grpSpPr>
          <p:grpSp>
            <p:nvGrpSpPr>
              <p:cNvPr id="37" name="组合 36">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53"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9" name="组合 38">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51"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0" name="组合 39">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48"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4" name="组合 43"/>
              <p:cNvGrpSpPr/>
              <p:nvPr/>
            </p:nvGrpSpPr>
            <p:grpSpPr>
              <a:xfrm>
                <a:off x="4613362" y="313351"/>
                <a:ext cx="454961" cy="453362"/>
                <a:chOff x="11893465" y="1994536"/>
                <a:chExt cx="274986" cy="274018"/>
              </a:xfrm>
              <a:grpFill/>
            </p:grpSpPr>
            <p:sp>
              <p:nvSpPr>
                <p:cNvPr id="4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4187309365"/>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页样式7-一段一图-1">
    <p:spTree>
      <p:nvGrpSpPr>
        <p:cNvPr id="1" name=""/>
        <p:cNvGrpSpPr/>
        <p:nvPr/>
      </p:nvGrpSpPr>
      <p:grpSpPr>
        <a:xfrm>
          <a:off x="0" y="0"/>
          <a:ext cx="0" cy="0"/>
          <a:chOff x="0" y="0"/>
          <a:chExt cx="0" cy="0"/>
        </a:xfrm>
      </p:grpSpPr>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38" name="直接连接符 37">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4" name="组合 33"/>
          <p:cNvGrpSpPr/>
          <p:nvPr userDrawn="1"/>
        </p:nvGrpSpPr>
        <p:grpSpPr>
          <a:xfrm>
            <a:off x="587288" y="6381747"/>
            <a:ext cx="2479573" cy="304965"/>
            <a:chOff x="671368" y="6061309"/>
            <a:chExt cx="2479573" cy="304965"/>
          </a:xfrm>
          <a:solidFill>
            <a:schemeClr val="accent3"/>
          </a:solidFill>
        </p:grpSpPr>
        <p:grpSp>
          <p:nvGrpSpPr>
            <p:cNvPr id="35" name="组合 34"/>
            <p:cNvGrpSpPr/>
            <p:nvPr userDrawn="1"/>
          </p:nvGrpSpPr>
          <p:grpSpPr>
            <a:xfrm>
              <a:off x="2098445" y="6064781"/>
              <a:ext cx="1052496" cy="298683"/>
              <a:chOff x="2373567" y="1096524"/>
              <a:chExt cx="2578404" cy="731714"/>
            </a:xfrm>
            <a:grpFill/>
          </p:grpSpPr>
          <p:sp>
            <p:nvSpPr>
              <p:cNvPr id="55"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7" name="组合 56">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62"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8" name="组合 57">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59"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6" name="组合 35"/>
            <p:cNvGrpSpPr/>
            <p:nvPr userDrawn="1"/>
          </p:nvGrpSpPr>
          <p:grpSpPr>
            <a:xfrm>
              <a:off x="671368" y="6061309"/>
              <a:ext cx="1100339" cy="304965"/>
              <a:chOff x="2372715" y="161759"/>
              <a:chExt cx="2695608" cy="747103"/>
            </a:xfrm>
            <a:grpFill/>
          </p:grpSpPr>
          <p:grpSp>
            <p:nvGrpSpPr>
              <p:cNvPr id="37" name="组合 36">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53"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9" name="组合 38">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51"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0" name="组合 39">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48"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4" name="组合 43"/>
              <p:cNvGrpSpPr/>
              <p:nvPr/>
            </p:nvGrpSpPr>
            <p:grpSpPr>
              <a:xfrm>
                <a:off x="4613362" y="313351"/>
                <a:ext cx="454961" cy="453362"/>
                <a:chOff x="11893465" y="1994536"/>
                <a:chExt cx="274986" cy="274018"/>
              </a:xfrm>
              <a:grpFill/>
            </p:grpSpPr>
            <p:sp>
              <p:nvSpPr>
                <p:cNvPr id="4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64" name="标题 11">
            <a:extLst>
              <a:ext uri="{FF2B5EF4-FFF2-40B4-BE49-F238E27FC236}">
                <a16:creationId xmlns:a16="http://schemas.microsoft.com/office/drawing/2014/main" id="{FDDD1B7B-042D-4B1B-81C1-5A7085CDFC26}"/>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3455728273"/>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页样式7-一段一图-2">
    <p:spTree>
      <p:nvGrpSpPr>
        <p:cNvPr id="1" name=""/>
        <p:cNvGrpSpPr/>
        <p:nvPr/>
      </p:nvGrpSpPr>
      <p:grpSpPr>
        <a:xfrm>
          <a:off x="0" y="0"/>
          <a:ext cx="0" cy="0"/>
          <a:chOff x="0" y="0"/>
          <a:chExt cx="0" cy="0"/>
        </a:xfrm>
      </p:grpSpPr>
      <p:sp>
        <p:nvSpPr>
          <p:cNvPr id="34" name="文本框 33"/>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sp>
        <p:nvSpPr>
          <p:cNvPr id="7" name="矩形 6"/>
          <p:cNvSpPr/>
          <p:nvPr userDrawn="1"/>
        </p:nvSpPr>
        <p:spPr>
          <a:xfrm>
            <a:off x="9385300" y="-82550"/>
            <a:ext cx="2363787" cy="845208"/>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9385300" y="0"/>
            <a:ext cx="2363788" cy="7626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90168" y="188589"/>
            <a:ext cx="1969223" cy="432990"/>
          </a:xfrm>
          <a:prstGeom prst="rect">
            <a:avLst/>
          </a:prstGeom>
        </p:spPr>
      </p:pic>
    </p:spTree>
    <p:extLst>
      <p:ext uri="{BB962C8B-B14F-4D97-AF65-F5344CB8AC3E}">
        <p14:creationId xmlns:p14="http://schemas.microsoft.com/office/powerpoint/2010/main" val="3046978381"/>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页样式8-常规">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833366C-F485-4B9F-89F5-27A807162B12}"/>
              </a:ext>
            </a:extLst>
          </p:cNvPr>
          <p:cNvSpPr/>
          <p:nvPr userDrawn="1"/>
        </p:nvSpPr>
        <p:spPr>
          <a:xfrm>
            <a:off x="318632" y="6188075"/>
            <a:ext cx="1155008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a:extLst>
              <a:ext uri="{FF2B5EF4-FFF2-40B4-BE49-F238E27FC236}">
                <a16:creationId xmlns:a16="http://schemas.microsoft.com/office/drawing/2014/main" id="{C10D966C-9DD4-4144-A316-29077EB905B4}"/>
              </a:ext>
            </a:extLst>
          </p:cNvPr>
          <p:cNvSpPr/>
          <p:nvPr userDrawn="1"/>
        </p:nvSpPr>
        <p:spPr>
          <a:xfrm>
            <a:off x="318632" y="0"/>
            <a:ext cx="11550080" cy="873125"/>
          </a:xfrm>
          <a:prstGeom prst="rect">
            <a:avLst/>
          </a:prstGeom>
          <a:solidFill>
            <a:schemeClr val="accent1"/>
          </a:solidFill>
          <a:ln>
            <a:solidFill>
              <a:schemeClr val="accent1"/>
            </a:solid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sp>
        <p:nvSpPr>
          <p:cNvPr id="9" name="标题 11"/>
          <p:cNvSpPr>
            <a:spLocks noGrp="1"/>
          </p:cNvSpPr>
          <p:nvPr>
            <p:ph type="title"/>
          </p:nvPr>
        </p:nvSpPr>
        <p:spPr>
          <a:xfrm>
            <a:off x="541539" y="247495"/>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solidFill>
                  <a:schemeClr val="bg1"/>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pic>
        <p:nvPicPr>
          <p:cNvPr id="40" name="图片 3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4050" y="131404"/>
            <a:ext cx="2243119" cy="627854"/>
          </a:xfrm>
          <a:prstGeom prst="rect">
            <a:avLst/>
          </a:prstGeom>
        </p:spPr>
      </p:pic>
      <p:grpSp>
        <p:nvGrpSpPr>
          <p:cNvPr id="37" name="组合 36"/>
          <p:cNvGrpSpPr/>
          <p:nvPr userDrawn="1"/>
        </p:nvGrpSpPr>
        <p:grpSpPr>
          <a:xfrm>
            <a:off x="587288" y="6381747"/>
            <a:ext cx="2479573" cy="304965"/>
            <a:chOff x="671368" y="6061309"/>
            <a:chExt cx="2479573" cy="304965"/>
          </a:xfrm>
          <a:solidFill>
            <a:schemeClr val="bg1"/>
          </a:solidFill>
        </p:grpSpPr>
        <p:grpSp>
          <p:nvGrpSpPr>
            <p:cNvPr id="38" name="组合 37"/>
            <p:cNvGrpSpPr/>
            <p:nvPr userDrawn="1"/>
          </p:nvGrpSpPr>
          <p:grpSpPr>
            <a:xfrm>
              <a:off x="2098445" y="6064781"/>
              <a:ext cx="1052496" cy="298683"/>
              <a:chOff x="2373567" y="1096524"/>
              <a:chExt cx="2578404" cy="731714"/>
            </a:xfrm>
            <a:grpFill/>
          </p:grpSpPr>
          <p:sp>
            <p:nvSpPr>
              <p:cNvPr id="54"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6" name="组合 55">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61"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7" name="组合 56">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58"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9" name="组合 38"/>
            <p:cNvGrpSpPr/>
            <p:nvPr userDrawn="1"/>
          </p:nvGrpSpPr>
          <p:grpSpPr>
            <a:xfrm>
              <a:off x="671368" y="6061309"/>
              <a:ext cx="1100339" cy="304965"/>
              <a:chOff x="2372715" y="161759"/>
              <a:chExt cx="2695608" cy="747103"/>
            </a:xfrm>
            <a:grpFill/>
          </p:grpSpPr>
          <p:grpSp>
            <p:nvGrpSpPr>
              <p:cNvPr id="41" name="组合 40">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52"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2" name="组合 41">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50"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3" name="组合 42">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47"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4" name="组合 43"/>
              <p:cNvGrpSpPr/>
              <p:nvPr/>
            </p:nvGrpSpPr>
            <p:grpSpPr>
              <a:xfrm>
                <a:off x="4613362" y="313351"/>
                <a:ext cx="454961" cy="453362"/>
                <a:chOff x="11893465" y="1994536"/>
                <a:chExt cx="274986" cy="274018"/>
              </a:xfrm>
              <a:grpFill/>
            </p:grpSpPr>
            <p:sp>
              <p:nvSpPr>
                <p:cNvPr id="4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1364882900"/>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页样式8-一段一图-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833366C-F485-4B9F-89F5-27A807162B12}"/>
              </a:ext>
            </a:extLst>
          </p:cNvPr>
          <p:cNvSpPr/>
          <p:nvPr userDrawn="1"/>
        </p:nvSpPr>
        <p:spPr>
          <a:xfrm>
            <a:off x="318632" y="6188075"/>
            <a:ext cx="1155008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grpSp>
        <p:nvGrpSpPr>
          <p:cNvPr id="37" name="组合 36"/>
          <p:cNvGrpSpPr/>
          <p:nvPr userDrawn="1"/>
        </p:nvGrpSpPr>
        <p:grpSpPr>
          <a:xfrm>
            <a:off x="587288" y="6381747"/>
            <a:ext cx="2479573" cy="304965"/>
            <a:chOff x="671368" y="6061309"/>
            <a:chExt cx="2479573" cy="304965"/>
          </a:xfrm>
          <a:solidFill>
            <a:schemeClr val="bg1"/>
          </a:solidFill>
        </p:grpSpPr>
        <p:grpSp>
          <p:nvGrpSpPr>
            <p:cNvPr id="38" name="组合 37"/>
            <p:cNvGrpSpPr/>
            <p:nvPr userDrawn="1"/>
          </p:nvGrpSpPr>
          <p:grpSpPr>
            <a:xfrm>
              <a:off x="2098445" y="6064781"/>
              <a:ext cx="1052496" cy="298683"/>
              <a:chOff x="2373567" y="1096524"/>
              <a:chExt cx="2578404" cy="731714"/>
            </a:xfrm>
            <a:grpFill/>
          </p:grpSpPr>
          <p:sp>
            <p:nvSpPr>
              <p:cNvPr id="54"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6" name="组合 55">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61"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7" name="组合 56">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58"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9" name="组合 38"/>
            <p:cNvGrpSpPr/>
            <p:nvPr userDrawn="1"/>
          </p:nvGrpSpPr>
          <p:grpSpPr>
            <a:xfrm>
              <a:off x="671368" y="6061309"/>
              <a:ext cx="1100339" cy="304965"/>
              <a:chOff x="2372715" y="161759"/>
              <a:chExt cx="2695608" cy="747103"/>
            </a:xfrm>
            <a:grpFill/>
          </p:grpSpPr>
          <p:grpSp>
            <p:nvGrpSpPr>
              <p:cNvPr id="41" name="组合 40">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52"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2" name="组合 41">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50"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3" name="组合 42">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47"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4" name="组合 43"/>
              <p:cNvGrpSpPr/>
              <p:nvPr/>
            </p:nvGrpSpPr>
            <p:grpSpPr>
              <a:xfrm>
                <a:off x="4613362" y="313351"/>
                <a:ext cx="454961" cy="453362"/>
                <a:chOff x="11893465" y="1994536"/>
                <a:chExt cx="274986" cy="274018"/>
              </a:xfrm>
              <a:grpFill/>
            </p:grpSpPr>
            <p:sp>
              <p:nvSpPr>
                <p:cNvPr id="4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32" name="标题 11">
            <a:extLst>
              <a:ext uri="{FF2B5EF4-FFF2-40B4-BE49-F238E27FC236}">
                <a16:creationId xmlns:a16="http://schemas.microsoft.com/office/drawing/2014/main" id="{A87381B5-231A-44CC-994D-B480CB6C319A}"/>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3203401571"/>
      </p:ext>
    </p:extLst>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页样式8-一段一图-2">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833366C-F485-4B9F-89F5-27A807162B12}"/>
              </a:ext>
            </a:extLst>
          </p:cNvPr>
          <p:cNvSpPr/>
          <p:nvPr userDrawn="1"/>
        </p:nvSpPr>
        <p:spPr>
          <a:xfrm>
            <a:off x="11144922" y="6188075"/>
            <a:ext cx="72379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a:extLst>
              <a:ext uri="{FF2B5EF4-FFF2-40B4-BE49-F238E27FC236}">
                <a16:creationId xmlns:a16="http://schemas.microsoft.com/office/drawing/2014/main" id="{C10D966C-9DD4-4144-A316-29077EB905B4}"/>
              </a:ext>
            </a:extLst>
          </p:cNvPr>
          <p:cNvSpPr/>
          <p:nvPr userDrawn="1"/>
        </p:nvSpPr>
        <p:spPr>
          <a:xfrm>
            <a:off x="9488246" y="0"/>
            <a:ext cx="2380466" cy="873125"/>
          </a:xfrm>
          <a:prstGeom prst="rect">
            <a:avLst/>
          </a:prstGeom>
          <a:solidFill>
            <a:schemeClr val="accent1"/>
          </a:solidFill>
          <a:ln>
            <a:solidFill>
              <a:schemeClr val="accent1"/>
            </a:solid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pic>
        <p:nvPicPr>
          <p:cNvPr id="40" name="图片 3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4050" y="131404"/>
            <a:ext cx="2243119" cy="627854"/>
          </a:xfrm>
          <a:prstGeom prst="rect">
            <a:avLst/>
          </a:prstGeom>
        </p:spPr>
      </p:pic>
    </p:spTree>
    <p:extLst>
      <p:ext uri="{BB962C8B-B14F-4D97-AF65-F5344CB8AC3E}">
        <p14:creationId xmlns:p14="http://schemas.microsoft.com/office/powerpoint/2010/main" val="3345844703"/>
      </p:ext>
    </p:extLst>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9782906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xmlns:p14="http://schemas.microsoft.com/office/powerpoint/2010/main">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封面样式2-首页3">
    <p:spTree>
      <p:nvGrpSpPr>
        <p:cNvPr id="1" name=""/>
        <p:cNvGrpSpPr/>
        <p:nvPr/>
      </p:nvGrpSpPr>
      <p:grpSpPr>
        <a:xfrm>
          <a:off x="0" y="0"/>
          <a:ext cx="0" cy="0"/>
          <a:chOff x="0" y="0"/>
          <a:chExt cx="0" cy="0"/>
        </a:xfrm>
      </p:grpSpPr>
      <p:sp>
        <p:nvSpPr>
          <p:cNvPr id="33" name="PA-矩形 7">
            <a:extLst>
              <a:ext uri="{FF2B5EF4-FFF2-40B4-BE49-F238E27FC236}">
                <a16:creationId xmlns:a16="http://schemas.microsoft.com/office/drawing/2014/main" id="{F617AE56-2DFD-4B3C-9381-5F4B6AA7F4D0}"/>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19" name="任意多边形: 形状 118">
            <a:extLst>
              <a:ext uri="{FF2B5EF4-FFF2-40B4-BE49-F238E27FC236}">
                <a16:creationId xmlns:a16="http://schemas.microsoft.com/office/drawing/2014/main" id="{2598B5BD-9CE3-4414-BCF1-860652297EE0}"/>
              </a:ext>
            </a:extLst>
          </p:cNvPr>
          <p:cNvSpPr/>
          <p:nvPr userDrawn="1"/>
        </p:nvSpPr>
        <p:spPr>
          <a:xfrm rot="1916941">
            <a:off x="-628945" y="-604401"/>
            <a:ext cx="12918999" cy="10347422"/>
          </a:xfrm>
          <a:custGeom>
            <a:avLst/>
            <a:gdLst>
              <a:gd name="connsiteX0" fmla="*/ 3910821 w 12918999"/>
              <a:gd name="connsiteY0" fmla="*/ 3392979 h 10347422"/>
              <a:gd name="connsiteX1" fmla="*/ 10262073 w 12918999"/>
              <a:gd name="connsiteY1" fmla="*/ 135295 h 10347422"/>
              <a:gd name="connsiteX2" fmla="*/ 10593809 w 12918999"/>
              <a:gd name="connsiteY2" fmla="*/ 0 h 10347422"/>
              <a:gd name="connsiteX3" fmla="*/ 12918999 w 12918999"/>
              <a:gd name="connsiteY3" fmla="*/ 3728462 h 10347422"/>
              <a:gd name="connsiteX4" fmla="*/ 11966464 w 12918999"/>
              <a:gd name="connsiteY4" fmla="*/ 4224159 h 10347422"/>
              <a:gd name="connsiteX5" fmla="*/ 3050273 w 12918999"/>
              <a:gd name="connsiteY5" fmla="*/ 10050202 h 10347422"/>
              <a:gd name="connsiteX6" fmla="*/ 2678241 w 12918999"/>
              <a:gd name="connsiteY6" fmla="*/ 10347422 h 10347422"/>
              <a:gd name="connsiteX7" fmla="*/ 0 w 12918999"/>
              <a:gd name="connsiteY7" fmla="*/ 6052840 h 10347422"/>
              <a:gd name="connsiteX8" fmla="*/ 4301 w 12918999"/>
              <a:gd name="connsiteY8" fmla="*/ 6049545 h 10347422"/>
              <a:gd name="connsiteX9" fmla="*/ 3049697 w 12918999"/>
              <a:gd name="connsiteY9" fmla="*/ 3931365 h 10347422"/>
              <a:gd name="connsiteX10" fmla="*/ 3910821 w 12918999"/>
              <a:gd name="connsiteY10" fmla="*/ 3392979 h 10347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18999" h="10347422">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a:gsLst>
              <a:gs pos="0">
                <a:schemeClr val="bg1">
                  <a:alpha val="0"/>
                </a:schemeClr>
              </a:gs>
              <a:gs pos="100000">
                <a:schemeClr val="accent2">
                  <a:alpha val="1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06" name="任意多边形: 形状 105">
            <a:extLst>
              <a:ext uri="{FF2B5EF4-FFF2-40B4-BE49-F238E27FC236}">
                <a16:creationId xmlns:a16="http://schemas.microsoft.com/office/drawing/2014/main" id="{71EDBCA9-8B80-4A76-9586-83EE76079DF6}"/>
              </a:ext>
            </a:extLst>
          </p:cNvPr>
          <p:cNvSpPr/>
          <p:nvPr userDrawn="1"/>
        </p:nvSpPr>
        <p:spPr>
          <a:xfrm rot="2885786">
            <a:off x="1087929" y="-2969595"/>
            <a:ext cx="10843749" cy="12155155"/>
          </a:xfrm>
          <a:custGeom>
            <a:avLst/>
            <a:gdLst>
              <a:gd name="connsiteX0" fmla="*/ 6051751 w 10843749"/>
              <a:gd name="connsiteY0" fmla="*/ 1433305 h 12155155"/>
              <a:gd name="connsiteX1" fmla="*/ 6837805 w 10843749"/>
              <a:gd name="connsiteY1" fmla="*/ 587393 h 12155155"/>
              <a:gd name="connsiteX2" fmla="*/ 7410328 w 10843749"/>
              <a:gd name="connsiteY2" fmla="*/ 0 h 12155155"/>
              <a:gd name="connsiteX3" fmla="*/ 10843749 w 10843749"/>
              <a:gd name="connsiteY3" fmla="*/ 3081016 h 12155155"/>
              <a:gd name="connsiteX4" fmla="*/ 2700969 w 10843749"/>
              <a:gd name="connsiteY4" fmla="*/ 12155155 h 12155155"/>
              <a:gd name="connsiteX5" fmla="*/ 0 w 10843749"/>
              <a:gd name="connsiteY5" fmla="*/ 9731411 h 12155155"/>
              <a:gd name="connsiteX6" fmla="*/ 261077 w 10843749"/>
              <a:gd name="connsiteY6" fmla="*/ 9278934 h 12155155"/>
              <a:gd name="connsiteX7" fmla="*/ 6051751 w 10843749"/>
              <a:gd name="connsiteY7" fmla="*/ 1433305 h 1215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43749" h="12155155">
                <a:moveTo>
                  <a:pt x="6051751" y="1433305"/>
                </a:moveTo>
                <a:cubicBezTo>
                  <a:pt x="6310424" y="1148193"/>
                  <a:pt x="6572461" y="866201"/>
                  <a:pt x="6837805" y="587393"/>
                </a:cubicBezTo>
                <a:lnTo>
                  <a:pt x="7410328" y="0"/>
                </a:lnTo>
                <a:lnTo>
                  <a:pt x="10843749" y="3081016"/>
                </a:lnTo>
                <a:lnTo>
                  <a:pt x="2700969" y="12155155"/>
                </a:lnTo>
                <a:lnTo>
                  <a:pt x="0" y="9731411"/>
                </a:lnTo>
                <a:lnTo>
                  <a:pt x="261077" y="9278934"/>
                </a:lnTo>
                <a:cubicBezTo>
                  <a:pt x="1926385" y="6466781"/>
                  <a:pt x="3869211" y="3838947"/>
                  <a:pt x="6051751" y="1433305"/>
                </a:cubicBezTo>
                <a:close/>
              </a:path>
            </a:pathLst>
          </a:custGeom>
          <a:gradFill>
            <a:gsLst>
              <a:gs pos="0">
                <a:schemeClr val="bg1">
                  <a:alpha val="0"/>
                </a:schemeClr>
              </a:gs>
              <a:gs pos="100000">
                <a:schemeClr val="accent2">
                  <a:alpha val="1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8" name="任意多边形: 形状 117">
            <a:extLst>
              <a:ext uri="{FF2B5EF4-FFF2-40B4-BE49-F238E27FC236}">
                <a16:creationId xmlns:a16="http://schemas.microsoft.com/office/drawing/2014/main" id="{D3BDC8EB-D763-47E3-A6AE-FBF19E39A979}"/>
              </a:ext>
            </a:extLst>
          </p:cNvPr>
          <p:cNvSpPr/>
          <p:nvPr userDrawn="1"/>
        </p:nvSpPr>
        <p:spPr>
          <a:xfrm rot="1846855">
            <a:off x="-307281" y="-539696"/>
            <a:ext cx="12650822" cy="11532482"/>
          </a:xfrm>
          <a:custGeom>
            <a:avLst/>
            <a:gdLst>
              <a:gd name="connsiteX0" fmla="*/ 7956679 w 12650822"/>
              <a:gd name="connsiteY0" fmla="*/ 1195248 h 11532482"/>
              <a:gd name="connsiteX1" fmla="*/ 9978822 w 12650822"/>
              <a:gd name="connsiteY1" fmla="*/ 62012 h 11532482"/>
              <a:gd name="connsiteX2" fmla="*/ 10098991 w 12650822"/>
              <a:gd name="connsiteY2" fmla="*/ 0 h 11532482"/>
              <a:gd name="connsiteX3" fmla="*/ 12650822 w 12650822"/>
              <a:gd name="connsiteY3" fmla="*/ 4283979 h 11532482"/>
              <a:gd name="connsiteX4" fmla="*/ 12245569 w 12650822"/>
              <a:gd name="connsiteY4" fmla="*/ 4531370 h 11532482"/>
              <a:gd name="connsiteX5" fmla="*/ 3166697 w 12650822"/>
              <a:gd name="connsiteY5" fmla="*/ 11321300 h 11532482"/>
              <a:gd name="connsiteX6" fmla="*/ 2933905 w 12650822"/>
              <a:gd name="connsiteY6" fmla="*/ 11532482 h 11532482"/>
              <a:gd name="connsiteX7" fmla="*/ 1718627 w 12650822"/>
              <a:gd name="connsiteY7" fmla="*/ 9865697 h 11532482"/>
              <a:gd name="connsiteX8" fmla="*/ 0 w 12650822"/>
              <a:gd name="connsiteY8" fmla="*/ 6980488 h 11532482"/>
              <a:gd name="connsiteX9" fmla="*/ 22022 w 12650822"/>
              <a:gd name="connsiteY9" fmla="*/ 6960742 h 11532482"/>
              <a:gd name="connsiteX10" fmla="*/ 4718407 w 12650822"/>
              <a:gd name="connsiteY10" fmla="*/ 3273000 h 11532482"/>
              <a:gd name="connsiteX11" fmla="*/ 7956679 w 12650822"/>
              <a:gd name="connsiteY11" fmla="*/ 1195248 h 1153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50822" h="11532482">
                <a:moveTo>
                  <a:pt x="7956679" y="1195248"/>
                </a:moveTo>
                <a:cubicBezTo>
                  <a:pt x="8621077" y="803084"/>
                  <a:pt x="9295272" y="425195"/>
                  <a:pt x="9978822" y="62012"/>
                </a:cubicBezTo>
                <a:lnTo>
                  <a:pt x="10098991" y="0"/>
                </a:lnTo>
                <a:lnTo>
                  <a:pt x="12650822" y="4283979"/>
                </a:lnTo>
                <a:lnTo>
                  <a:pt x="12245569" y="4531370"/>
                </a:lnTo>
                <a:cubicBezTo>
                  <a:pt x="9012618" y="6531229"/>
                  <a:pt x="5974903" y="8805712"/>
                  <a:pt x="3166697" y="11321300"/>
                </a:cubicBezTo>
                <a:lnTo>
                  <a:pt x="2933905" y="11532482"/>
                </a:lnTo>
                <a:lnTo>
                  <a:pt x="1718627" y="9865697"/>
                </a:lnTo>
                <a:lnTo>
                  <a:pt x="0" y="6980488"/>
                </a:lnTo>
                <a:lnTo>
                  <a:pt x="22022" y="6960742"/>
                </a:lnTo>
                <a:cubicBezTo>
                  <a:pt x="1511041" y="5644986"/>
                  <a:pt x="3079104" y="4413194"/>
                  <a:pt x="4718407" y="3273000"/>
                </a:cubicBezTo>
                <a:cubicBezTo>
                  <a:pt x="5769244" y="2542106"/>
                  <a:pt x="6849352" y="1848853"/>
                  <a:pt x="7956679" y="1195248"/>
                </a:cubicBezTo>
                <a:close/>
              </a:path>
            </a:pathLst>
          </a:custGeom>
          <a:gradFill>
            <a:gsLst>
              <a:gs pos="0">
                <a:schemeClr val="bg1">
                  <a:alpha val="3000"/>
                </a:schemeClr>
              </a:gs>
              <a:gs pos="100000">
                <a:schemeClr val="accent2">
                  <a:alpha val="18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49" name="任意多边形: 形状 83">
            <a:extLst>
              <a:ext uri="{FF2B5EF4-FFF2-40B4-BE49-F238E27FC236}">
                <a16:creationId xmlns:a16="http://schemas.microsoft.com/office/drawing/2014/main" id="{BF5A8484-2D5B-4F59-A3A8-5B9369A9154A}"/>
              </a:ext>
            </a:extLst>
          </p:cNvPr>
          <p:cNvSpPr/>
          <p:nvPr userDrawn="1"/>
        </p:nvSpPr>
        <p:spPr>
          <a:xfrm>
            <a:off x="-1" y="2998308"/>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ea"/>
            </a:endParaRPr>
          </a:p>
        </p:txBody>
      </p:sp>
      <p:sp>
        <p:nvSpPr>
          <p:cNvPr id="50" name="任意多边形: 形状 83">
            <a:extLst>
              <a:ext uri="{FF2B5EF4-FFF2-40B4-BE49-F238E27FC236}">
                <a16:creationId xmlns:a16="http://schemas.microsoft.com/office/drawing/2014/main" id="{BF5A8484-2D5B-4F59-A3A8-5B9369A9154A}"/>
              </a:ext>
            </a:extLst>
          </p:cNvPr>
          <p:cNvSpPr/>
          <p:nvPr userDrawn="1"/>
        </p:nvSpPr>
        <p:spPr>
          <a:xfrm>
            <a:off x="-2" y="3019587"/>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ea"/>
            </a:endParaRPr>
          </a:p>
        </p:txBody>
      </p:sp>
      <p:sp>
        <p:nvSpPr>
          <p:cNvPr id="102" name="任意多边形: 形状 101">
            <a:extLst>
              <a:ext uri="{FF2B5EF4-FFF2-40B4-BE49-F238E27FC236}">
                <a16:creationId xmlns:a16="http://schemas.microsoft.com/office/drawing/2014/main" id="{0EDC3667-87B7-4232-9F74-2F0E9CE7574F}"/>
              </a:ext>
            </a:extLst>
          </p:cNvPr>
          <p:cNvSpPr/>
          <p:nvPr userDrawn="1"/>
        </p:nvSpPr>
        <p:spPr>
          <a:xfrm rot="2676034">
            <a:off x="-1681418" y="5021332"/>
            <a:ext cx="3362838" cy="3410056"/>
          </a:xfrm>
          <a:custGeom>
            <a:avLst/>
            <a:gdLst>
              <a:gd name="connsiteX0" fmla="*/ 0 w 3362838"/>
              <a:gd name="connsiteY0" fmla="*/ 0 h 3410056"/>
              <a:gd name="connsiteX1" fmla="*/ 3362838 w 3362838"/>
              <a:gd name="connsiteY1" fmla="*/ 3410056 h 3410056"/>
              <a:gd name="connsiteX2" fmla="*/ 3362837 w 3362838"/>
              <a:gd name="connsiteY2" fmla="*/ 3410056 h 3410056"/>
              <a:gd name="connsiteX3" fmla="*/ 0 w 3362838"/>
              <a:gd name="connsiteY3" fmla="*/ 1 h 3410056"/>
            </a:gdLst>
            <a:ahLst/>
            <a:cxnLst>
              <a:cxn ang="0">
                <a:pos x="connsiteX0" y="connsiteY0"/>
              </a:cxn>
              <a:cxn ang="0">
                <a:pos x="connsiteX1" y="connsiteY1"/>
              </a:cxn>
              <a:cxn ang="0">
                <a:pos x="connsiteX2" y="connsiteY2"/>
              </a:cxn>
              <a:cxn ang="0">
                <a:pos x="connsiteX3" y="connsiteY3"/>
              </a:cxn>
            </a:cxnLst>
            <a:rect l="l" t="t" r="r" b="b"/>
            <a:pathLst>
              <a:path w="3362838" h="3410056">
                <a:moveTo>
                  <a:pt x="0" y="0"/>
                </a:moveTo>
                <a:lnTo>
                  <a:pt x="3362838" y="3410056"/>
                </a:lnTo>
                <a:lnTo>
                  <a:pt x="3362837" y="3410056"/>
                </a:lnTo>
                <a:lnTo>
                  <a:pt x="0" y="1"/>
                </a:lnTo>
                <a:close/>
              </a:path>
            </a:pathLst>
          </a:custGeom>
          <a:gradFill>
            <a:gsLst>
              <a:gs pos="0">
                <a:schemeClr val="bg1">
                  <a:alpha val="0"/>
                </a:schemeClr>
              </a:gs>
              <a:gs pos="100000">
                <a:schemeClr val="accent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4" name="任意多边形: 形状 83">
            <a:extLst>
              <a:ext uri="{FF2B5EF4-FFF2-40B4-BE49-F238E27FC236}">
                <a16:creationId xmlns:a16="http://schemas.microsoft.com/office/drawing/2014/main" id="{BF5A8484-2D5B-4F59-A3A8-5B9369A9154A}"/>
              </a:ext>
            </a:extLst>
          </p:cNvPr>
          <p:cNvSpPr/>
          <p:nvPr userDrawn="1"/>
        </p:nvSpPr>
        <p:spPr>
          <a:xfrm>
            <a:off x="1" y="3201986"/>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ea"/>
            </a:endParaRPr>
          </a:p>
        </p:txBody>
      </p:sp>
      <p:sp>
        <p:nvSpPr>
          <p:cNvPr id="48" name="标题 47">
            <a:extLst>
              <a:ext uri="{FF2B5EF4-FFF2-40B4-BE49-F238E27FC236}">
                <a16:creationId xmlns:a16="http://schemas.microsoft.com/office/drawing/2014/main" id="{253B7C5E-3F08-4EBF-9056-30949C85AEF8}"/>
              </a:ext>
            </a:extLst>
          </p:cNvPr>
          <p:cNvSpPr>
            <a:spLocks noGrp="1"/>
          </p:cNvSpPr>
          <p:nvPr userDrawn="1">
            <p:ph type="title" hasCustomPrompt="1"/>
          </p:nvPr>
        </p:nvSpPr>
        <p:spPr>
          <a:xfrm>
            <a:off x="515938" y="3758091"/>
            <a:ext cx="11160124" cy="1323439"/>
          </a:xfrm>
          <a:prstGeom prst="rect">
            <a:avLst/>
          </a:prstGeom>
          <a:noFill/>
        </p:spPr>
        <p:txBody>
          <a:bodyPr wrap="square" lIns="0" rtlCol="0">
            <a:spAutoFit/>
          </a:bodyPr>
          <a:lstStyle>
            <a:lvl1pPr algn="ctr">
              <a:lnSpc>
                <a:spcPct val="100000"/>
              </a:lnSpc>
              <a:defRPr lang="zh-CN" altLang="en-US" sz="4000" b="1" spc="100" dirty="0">
                <a:solidFill>
                  <a:schemeClr val="tx1"/>
                </a:solidFill>
                <a:latin typeface="+mn-ea"/>
                <a:ea typeface="+mn-ea"/>
                <a:cs typeface="+mn-ea"/>
              </a:defRPr>
            </a:lvl1pPr>
          </a:lstStyle>
          <a:p>
            <a:pPr marL="0" lvl="0"/>
            <a:r>
              <a:rPr lang="zh-CN" altLang="en-US" dirty="0"/>
              <a:t>北京理工大学</a:t>
            </a:r>
            <a:br>
              <a:rPr lang="zh-CN" altLang="en-US" dirty="0"/>
            </a:br>
            <a:r>
              <a:rPr lang="zh-CN" altLang="en-US" dirty="0"/>
              <a:t>毕业设计论文答辩模板</a:t>
            </a:r>
          </a:p>
        </p:txBody>
      </p:sp>
      <p:sp>
        <p:nvSpPr>
          <p:cNvPr id="38" name="文本占位符 53">
            <a:extLst>
              <a:ext uri="{FF2B5EF4-FFF2-40B4-BE49-F238E27FC236}">
                <a16:creationId xmlns:a16="http://schemas.microsoft.com/office/drawing/2014/main" id="{6465F7BF-7316-4A2A-9ECF-AB9E637FFCF4}"/>
              </a:ext>
            </a:extLst>
          </p:cNvPr>
          <p:cNvSpPr>
            <a:spLocks noGrp="1"/>
          </p:cNvSpPr>
          <p:nvPr userDrawn="1">
            <p:ph type="body" sz="quarter" idx="16" hasCustomPrompt="1"/>
          </p:nvPr>
        </p:nvSpPr>
        <p:spPr>
          <a:xfrm>
            <a:off x="2141362" y="5528219"/>
            <a:ext cx="7909277" cy="372410"/>
          </a:xfrm>
          <a:prstGeom prst="rect">
            <a:avLst/>
          </a:prstGeom>
          <a:noFill/>
        </p:spPr>
        <p:txBody>
          <a:bodyPr wrap="square" lIns="0" rtlCol="0" anchor="ctr" anchorCtr="0">
            <a:spAutoFit/>
          </a:bodyPr>
          <a:lstStyle>
            <a:lvl1pPr marL="0" indent="0" algn="ctr">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cxnSp>
        <p:nvCxnSpPr>
          <p:cNvPr id="18" name="直接连接符 17">
            <a:extLst>
              <a:ext uri="{FF2B5EF4-FFF2-40B4-BE49-F238E27FC236}">
                <a16:creationId xmlns:a16="http://schemas.microsoft.com/office/drawing/2014/main" id="{598AF966-7C79-45DC-9C70-AB081DBECE7D}"/>
              </a:ext>
            </a:extLst>
          </p:cNvPr>
          <p:cNvCxnSpPr>
            <a:cxnSpLocks/>
          </p:cNvCxnSpPr>
          <p:nvPr userDrawn="1"/>
        </p:nvCxnSpPr>
        <p:spPr>
          <a:xfrm>
            <a:off x="2108522" y="5295418"/>
            <a:ext cx="797495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866200" y="944838"/>
            <a:ext cx="4510874" cy="1262604"/>
          </a:xfrm>
          <a:prstGeom prst="rect">
            <a:avLst/>
          </a:prstGeom>
        </p:spPr>
      </p:pic>
      <p:sp>
        <p:nvSpPr>
          <p:cNvPr id="51" name="文本框 50"/>
          <p:cNvSpPr txBox="1"/>
          <p:nvPr userDrawn="1"/>
        </p:nvSpPr>
        <p:spPr>
          <a:xfrm>
            <a:off x="150844" y="6088688"/>
            <a:ext cx="2156520" cy="617431"/>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kumimoji="0" lang="en-US" altLang="zh-CN" sz="1400" b="1" i="0" u="none" strike="noStrike" kern="1200" cap="none" spc="100" normalizeH="0" baseline="0" noProof="0" dirty="0">
                <a:ln>
                  <a:noFill/>
                </a:ln>
                <a:solidFill>
                  <a:srgbClr val="A2A2A2"/>
                </a:solidFill>
                <a:effectLst/>
                <a:uLnTx/>
                <a:uFillTx/>
                <a:latin typeface="微软雅黑"/>
                <a:ea typeface="微软雅黑"/>
                <a:cs typeface="+mn-cs"/>
              </a:rPr>
              <a:t>BIT</a:t>
            </a:r>
            <a:r>
              <a:rPr kumimoji="0" lang="en-US" altLang="zh-CN" sz="1400" b="0" i="0" u="none" strike="noStrike" kern="1200" cap="none" spc="100" normalizeH="0" baseline="0" noProof="0" dirty="0">
                <a:ln>
                  <a:noFill/>
                </a:ln>
                <a:solidFill>
                  <a:srgbClr val="A2A2A2"/>
                </a:solidFill>
                <a:effectLst/>
                <a:uLnTx/>
                <a:uFillTx/>
                <a:latin typeface="微软雅黑"/>
                <a:ea typeface="微软雅黑" panose="020B0503020204020204" pitchFamily="34" charset="-122"/>
                <a:cs typeface="+mn-cs"/>
              </a:rPr>
              <a:t> </a:t>
            </a:r>
            <a:r>
              <a:rPr kumimoji="0" lang="en-US" altLang="zh-CN" sz="1400" b="1" i="0" u="none" strike="noStrike" kern="1200" cap="none" spc="100" normalizeH="0" baseline="0" noProof="0" dirty="0">
                <a:ln>
                  <a:noFill/>
                </a:ln>
                <a:solidFill>
                  <a:srgbClr val="A2A2A2"/>
                </a:solidFill>
                <a:effectLst/>
                <a:uLnTx/>
                <a:uFillTx/>
                <a:latin typeface="微软雅黑"/>
                <a:ea typeface="微软雅黑" panose="020B0503020204020204" pitchFamily="34" charset="-122"/>
                <a:cs typeface="+mn-cs"/>
              </a:rPr>
              <a:t>|</a:t>
            </a:r>
            <a:r>
              <a:rPr kumimoji="0" lang="en-US" altLang="zh-CN" sz="1400" b="0" i="0" u="none" strike="noStrike" kern="1200" cap="none" spc="100" normalizeH="0" baseline="0" noProof="0" dirty="0">
                <a:ln>
                  <a:noFill/>
                </a:ln>
                <a:solidFill>
                  <a:srgbClr val="A2A2A2"/>
                </a:solidFill>
                <a:effectLst/>
                <a:uLnTx/>
                <a:uFillTx/>
                <a:latin typeface="微软雅黑"/>
                <a:ea typeface="微软雅黑" panose="020B0503020204020204" pitchFamily="34" charset="-122"/>
                <a:cs typeface="+mn-cs"/>
              </a:rPr>
              <a:t> </a:t>
            </a:r>
            <a:r>
              <a:rPr kumimoji="0" lang="en-US" altLang="zh-CN" sz="1400" b="1" i="0" u="none" strike="noStrike" kern="1200" cap="none" spc="100" normalizeH="0" baseline="0" noProof="0" dirty="0">
                <a:ln>
                  <a:noFill/>
                </a:ln>
                <a:solidFill>
                  <a:srgbClr val="A2A2A2"/>
                </a:solidFill>
                <a:effectLst/>
                <a:uLnTx/>
                <a:uFillTx/>
                <a:latin typeface="微软雅黑"/>
                <a:ea typeface="微软雅黑" panose="020B0503020204020204" pitchFamily="34" charset="-122"/>
                <a:cs typeface="+mn-cs"/>
              </a:rPr>
              <a:t>SINCE 1940</a:t>
            </a:r>
            <a:endParaRPr kumimoji="0" lang="zh-CN" altLang="en-US" sz="1400" b="1" i="0" u="none" strike="noStrike" kern="1200" cap="none" spc="100" normalizeH="0" baseline="0" noProof="0" dirty="0">
              <a:ln>
                <a:noFill/>
              </a:ln>
              <a:solidFill>
                <a:srgbClr val="A2A2A2"/>
              </a:solidFill>
              <a:effectLst/>
              <a:uLnTx/>
              <a:uFillTx/>
              <a:latin typeface="微软雅黑 Light" panose="020B0502040204020203" pitchFamily="34" charset="-122"/>
              <a:ea typeface="微软雅黑 Light" panose="020B0502040204020203" pitchFamily="34" charset="-122"/>
              <a:cs typeface="+mn-cs"/>
            </a:endParaRPr>
          </a:p>
        </p:txBody>
      </p:sp>
      <p:grpSp>
        <p:nvGrpSpPr>
          <p:cNvPr id="3" name="组合 2"/>
          <p:cNvGrpSpPr/>
          <p:nvPr userDrawn="1"/>
        </p:nvGrpSpPr>
        <p:grpSpPr>
          <a:xfrm>
            <a:off x="10272478" y="6308389"/>
            <a:ext cx="1629576" cy="198576"/>
            <a:chOff x="10272478" y="6308389"/>
            <a:chExt cx="1629576" cy="198576"/>
          </a:xfrm>
        </p:grpSpPr>
        <p:grpSp>
          <p:nvGrpSpPr>
            <p:cNvPr id="40" name="组合 39"/>
            <p:cNvGrpSpPr/>
            <p:nvPr userDrawn="1"/>
          </p:nvGrpSpPr>
          <p:grpSpPr>
            <a:xfrm>
              <a:off x="11216726" y="6310650"/>
              <a:ext cx="685328" cy="194486"/>
              <a:chOff x="2373567" y="1096524"/>
              <a:chExt cx="2578404" cy="731714"/>
            </a:xfrm>
          </p:grpSpPr>
          <p:sp>
            <p:nvSpPr>
              <p:cNvPr id="70"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1" name="Freeform 6">
                <a:extLst>
                  <a:ext uri="{FF2B5EF4-FFF2-40B4-BE49-F238E27FC236}">
                    <a16:creationId xmlns:a16="http://schemas.microsoft.com/office/drawing/2014/main" id="{CC1FA68D-3307-481A-8E89-D3CB2E8693F4}"/>
                  </a:ext>
                </a:extLst>
              </p:cNvPr>
              <p:cNvSpPr>
                <a:spLocks/>
              </p:cNvSpPr>
              <p:nvPr/>
            </p:nvSpPr>
            <p:spPr bwMode="auto">
              <a:xfrm>
                <a:off x="4620306" y="1237050"/>
                <a:ext cx="331665" cy="499208"/>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nvGrpSpPr>
              <p:cNvPr id="72" name="组合 71">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solidFill>
                <a:schemeClr val="accent3"/>
              </a:solidFill>
            </p:grpSpPr>
            <p:sp>
              <p:nvSpPr>
                <p:cNvPr id="7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73" name="组合 72">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solidFill>
                <a:schemeClr val="accent3"/>
              </a:solidFill>
            </p:grpSpPr>
            <p:sp>
              <p:nvSpPr>
                <p:cNvPr id="7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5"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6"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nvGrpSpPr>
            <p:cNvPr id="41" name="组合 40"/>
            <p:cNvGrpSpPr/>
            <p:nvPr userDrawn="1"/>
          </p:nvGrpSpPr>
          <p:grpSpPr>
            <a:xfrm>
              <a:off x="10272478" y="6308389"/>
              <a:ext cx="721622" cy="198576"/>
              <a:chOff x="2372715" y="161759"/>
              <a:chExt cx="2714952" cy="747103"/>
            </a:xfrm>
          </p:grpSpPr>
          <p:grpSp>
            <p:nvGrpSpPr>
              <p:cNvPr id="42" name="组合 41">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solidFill>
                <a:schemeClr val="accent3"/>
              </a:solidFill>
            </p:grpSpPr>
            <p:sp>
              <p:nvSpPr>
                <p:cNvPr id="6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43" name="组合 42">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solidFill>
                <a:schemeClr val="accent3"/>
              </a:solidFill>
            </p:grpSpPr>
            <p:sp>
              <p:nvSpPr>
                <p:cNvPr id="6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44" name="组合 43">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solidFill>
                <a:schemeClr val="accent3"/>
              </a:solidFill>
            </p:grpSpPr>
            <p:sp>
              <p:nvSpPr>
                <p:cNvPr id="6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45" name="组合 44"/>
              <p:cNvGrpSpPr/>
              <p:nvPr/>
            </p:nvGrpSpPr>
            <p:grpSpPr>
              <a:xfrm>
                <a:off x="4613354" y="313344"/>
                <a:ext cx="474313" cy="479486"/>
                <a:chOff x="11893474" y="1994534"/>
                <a:chExt cx="286683" cy="289808"/>
              </a:xfrm>
              <a:solidFill>
                <a:schemeClr val="accent3"/>
              </a:solidFill>
            </p:grpSpPr>
            <p:sp>
              <p:nvSpPr>
                <p:cNvPr id="46" name="Freeform 11">
                  <a:extLst>
                    <a:ext uri="{FF2B5EF4-FFF2-40B4-BE49-F238E27FC236}">
                      <a16:creationId xmlns:a16="http://schemas.microsoft.com/office/drawing/2014/main" id="{9E7CBDC3-9BA0-4307-8967-3267E5966ED9}"/>
                    </a:ext>
                  </a:extLst>
                </p:cNvPr>
                <p:cNvSpPr>
                  <a:spLocks noEditPoints="1"/>
                </p:cNvSpPr>
                <p:nvPr/>
              </p:nvSpPr>
              <p:spPr bwMode="auto">
                <a:xfrm>
                  <a:off x="11976099" y="1994534"/>
                  <a:ext cx="204058" cy="285679"/>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47" name="Freeform 12">
                  <a:extLst>
                    <a:ext uri="{FF2B5EF4-FFF2-40B4-BE49-F238E27FC236}">
                      <a16:creationId xmlns:a16="http://schemas.microsoft.com/office/drawing/2014/main" id="{D88D9717-3185-4A77-8E18-2A8659D441F7}"/>
                    </a:ext>
                  </a:extLst>
                </p:cNvPr>
                <p:cNvSpPr>
                  <a:spLocks/>
                </p:cNvSpPr>
                <p:nvPr/>
              </p:nvSpPr>
              <p:spPr bwMode="auto">
                <a:xfrm>
                  <a:off x="11893474" y="2009126"/>
                  <a:ext cx="109877" cy="275216"/>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spTree>
    <p:extLst>
      <p:ext uri="{BB962C8B-B14F-4D97-AF65-F5344CB8AC3E}">
        <p14:creationId xmlns:p14="http://schemas.microsoft.com/office/powerpoint/2010/main" val="3183096829"/>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目录样式1">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567"/>
            <a:ext cx="5022689" cy="6857433"/>
          </a:xfrm>
          <a:prstGeom prst="rect">
            <a:avLst/>
          </a:prstGeom>
        </p:spPr>
      </p:pic>
      <p:sp>
        <p:nvSpPr>
          <p:cNvPr id="3" name="矩形 白1">
            <a:extLst>
              <a:ext uri="{FF2B5EF4-FFF2-40B4-BE49-F238E27FC236}">
                <a16:creationId xmlns:a16="http://schemas.microsoft.com/office/drawing/2014/main" id="{7A935A22-FEEB-4B78-9916-163644E822AB}"/>
              </a:ext>
            </a:extLst>
          </p:cNvPr>
          <p:cNvSpPr/>
          <p:nvPr userDrawn="1"/>
        </p:nvSpPr>
        <p:spPr>
          <a:xfrm rot="5400000">
            <a:off x="-917658" y="918223"/>
            <a:ext cx="6858002" cy="5022690"/>
          </a:xfrm>
          <a:prstGeom prst="rect">
            <a:avLst/>
          </a:prstGeom>
          <a:gradFill flip="none" rotWithShape="1">
            <a:gsLst>
              <a:gs pos="50000">
                <a:schemeClr val="bg1">
                  <a:alpha val="50000"/>
                </a:schemeClr>
              </a:gs>
              <a:gs pos="0">
                <a:schemeClr val="bg1"/>
              </a:gs>
              <a:gs pos="100000">
                <a:srgbClr val="FFFFFF">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spTree>
    <p:extLst>
      <p:ext uri="{BB962C8B-B14F-4D97-AF65-F5344CB8AC3E}">
        <p14:creationId xmlns:p14="http://schemas.microsoft.com/office/powerpoint/2010/main" val="2945753772"/>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307D9317-7C4B-477D-9FCD-CD5482370328}" type="datetimeFigureOut">
              <a:rPr lang="zh-CN" altLang="en-US"/>
              <a:pPr>
                <a:defRPr/>
              </a:pPr>
              <a:t>2026/6/13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EC0B3BC9-7090-482A-AB63-1945A9C9F1E4}" type="slidenum">
              <a:rPr lang="zh-CN" altLang="en-US"/>
              <a:pPr>
                <a:defRPr/>
              </a:pPr>
              <a:t>‹#›</a:t>
            </a:fld>
            <a:endParaRPr lang="zh-CN" altLang="en-US"/>
          </a:p>
        </p:txBody>
      </p:sp>
    </p:spTree>
    <p:extLst>
      <p:ext uri="{BB962C8B-B14F-4D97-AF65-F5344CB8AC3E}">
        <p14:creationId xmlns:p14="http://schemas.microsoft.com/office/powerpoint/2010/main" val="17949258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7" r:id="rId25"/>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07D9317-7C4B-477D-9FCD-CD5482370328}" type="datetimeFigureOut">
              <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rPr>
              <a:pPr marL="0" marR="0" lvl="0" indent="0" algn="l" defTabSz="914400" rtl="0" eaLnBrk="1" fontAlgn="auto" latinLnBrk="0" hangingPunct="1">
                <a:lnSpc>
                  <a:spcPct val="100000"/>
                </a:lnSpc>
                <a:spcBef>
                  <a:spcPts val="0"/>
                </a:spcBef>
                <a:spcAft>
                  <a:spcPts val="0"/>
                </a:spcAft>
                <a:buClrTx/>
                <a:buSzTx/>
                <a:buFontTx/>
                <a:buNone/>
                <a:tabLst/>
                <a:defRPr/>
              </a:pPr>
              <a:t>2026/6/13</a:t>
            </a:fld>
            <a:endPar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0B3BC9-7090-482A-AB63-1945A9C9F1E4}" type="slidenum">
              <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endParaRPr>
          </a:p>
        </p:txBody>
      </p:sp>
    </p:spTree>
    <p:extLst>
      <p:ext uri="{BB962C8B-B14F-4D97-AF65-F5344CB8AC3E}">
        <p14:creationId xmlns:p14="http://schemas.microsoft.com/office/powerpoint/2010/main" val="1955350685"/>
      </p:ext>
    </p:extLst>
  </p:cSld>
  <p:clrMap bg1="lt1" tx1="dk1" bg2="lt2" tx2="dk2" accent1="accent1" accent2="accent2" accent3="accent3" accent4="accent4" accent5="accent5" accent6="accent6" hlink="hlink" folHlink="folHlink"/>
  <p:sldLayoutIdLst>
    <p:sldLayoutId id="2147483686" r:id="rId1"/>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515938" y="4127423"/>
            <a:ext cx="11160124" cy="584775"/>
          </a:xfrm>
        </p:spPr>
        <p:txBody>
          <a:bodyPr/>
          <a:lstStyle/>
          <a:p>
            <a:r>
              <a:rPr lang="zh-CN" altLang="zh-CN" sz="3200" dirty="0"/>
              <a:t>面向计算机科学论文的证据约束型 GraphRAG 问答系统</a:t>
            </a:r>
            <a:endParaRPr lang="zh-CN" altLang="en-US" sz="3200" dirty="0"/>
          </a:p>
        </p:txBody>
      </p:sp>
      <p:sp>
        <p:nvSpPr>
          <p:cNvPr id="6" name="文本占位符 5"/>
          <p:cNvSpPr>
            <a:spLocks noGrp="1"/>
          </p:cNvSpPr>
          <p:nvPr>
            <p:ph type="body" sz="quarter" idx="16"/>
          </p:nvPr>
        </p:nvSpPr>
        <p:spPr>
          <a:xfrm>
            <a:off x="2141362" y="5541877"/>
            <a:ext cx="7909277" cy="345094"/>
          </a:xfrm>
        </p:spPr>
        <p:txBody>
          <a:bodyPr/>
          <a:lstStyle/>
          <a:p>
            <a:fld id="{DFF7108A-04D0-404E-9D44-4DF45664CBC8}" type="datetime1">
              <a:rPr lang="zh-CN" altLang="en-US" smtClean="0"/>
              <a:t>2026/6/13</a:t>
            </a:fld>
            <a:endParaRPr lang="en-US" altLang="zh-CN" dirty="0"/>
          </a:p>
        </p:txBody>
      </p:sp>
      <p:sp>
        <p:nvSpPr>
          <p:cNvPr id="2" name="文本占位符 5">
            <a:extLst>
              <a:ext uri="{FF2B5EF4-FFF2-40B4-BE49-F238E27FC236}">
                <a16:creationId xmlns:a16="http://schemas.microsoft.com/office/drawing/2014/main" id="{8B96493C-1E03-93B2-9CDA-DA2FA55FFADA}"/>
              </a:ext>
            </a:extLst>
          </p:cNvPr>
          <p:cNvSpPr txBox="1">
            <a:spLocks/>
          </p:cNvSpPr>
          <p:nvPr/>
        </p:nvSpPr>
        <p:spPr bwMode="auto">
          <a:xfrm>
            <a:off x="1276027" y="4821206"/>
            <a:ext cx="9645111" cy="345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rtlCol="0" anchor="ctr" anchorCtr="0" compatLnSpc="1">
            <a:prstTxWarp prst="textNoShape">
              <a:avLst/>
            </a:prstTxWarp>
            <a:spAutoFit/>
          </a:bodyPr>
          <a:lstStyle>
            <a:lvl1pPr marL="0" indent="0" algn="ctr" rtl="0" eaLnBrk="0" fontAlgn="base" hangingPunct="0">
              <a:lnSpc>
                <a:spcPct val="130000"/>
              </a:lnSpc>
              <a:spcBef>
                <a:spcPts val="1000"/>
              </a:spcBef>
              <a:spcAft>
                <a:spcPct val="0"/>
              </a:spcAft>
              <a:buFont typeface="Arial" panose="020B0604020202020204" pitchFamily="34" charset="0"/>
              <a:buNone/>
              <a:defRPr lang="zh-CN" altLang="en-US" sz="1400" kern="1200" spc="100" smtClean="0">
                <a:solidFill>
                  <a:schemeClr val="tx1">
                    <a:lumMod val="85000"/>
                    <a:lumOff val="15000"/>
                  </a:schemeClr>
                </a:solidFill>
                <a:latin typeface="+mn-lt"/>
                <a:ea typeface="+mn-ea"/>
                <a:cs typeface="+mn-ea"/>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lang="zh-CN" altLang="en-US" sz="1800" kern="1200" smtClean="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lang="zh-CN" altLang="en-US" sz="1800" kern="1200" smtClean="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lang="zh-CN" altLang="en-US" kern="1200" smtClean="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lang="zh-CN" altLang="en-US"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吴雨霏</a:t>
            </a:r>
            <a:r>
              <a:rPr lang="en-US" altLang="zh-CN" dirty="0"/>
              <a:t>(3220251395)</a:t>
            </a:r>
            <a:r>
              <a:rPr lang="zh-CN" altLang="en-US" dirty="0"/>
              <a:t> 王文正</a:t>
            </a:r>
            <a:r>
              <a:rPr lang="en-US" altLang="zh-CN" dirty="0"/>
              <a:t>(3120250953)</a:t>
            </a:r>
            <a:r>
              <a:rPr lang="zh-CN" altLang="en-US" dirty="0"/>
              <a:t> 唐易成</a:t>
            </a:r>
            <a:r>
              <a:rPr lang="en-US" altLang="zh-CN" dirty="0"/>
              <a:t>(3220251363)</a:t>
            </a:r>
            <a:r>
              <a:rPr lang="zh-CN" altLang="en-US" dirty="0"/>
              <a:t> 牛煜雯</a:t>
            </a:r>
            <a:r>
              <a:rPr lang="en-US" altLang="zh-CN" dirty="0"/>
              <a:t>(3220251288)</a:t>
            </a:r>
            <a:r>
              <a:rPr lang="zh-CN" altLang="en-US" dirty="0"/>
              <a:t> 李昊</a:t>
            </a:r>
            <a:r>
              <a:rPr lang="en-US" altLang="zh-CN" dirty="0"/>
              <a:t>(3220251322)</a:t>
            </a:r>
            <a:endParaRPr lang="zh-CN" altLang="en-US" dirty="0"/>
          </a:p>
        </p:txBody>
      </p:sp>
    </p:spTree>
    <p:extLst>
      <p:ext uri="{BB962C8B-B14F-4D97-AF65-F5344CB8AC3E}">
        <p14:creationId xmlns:p14="http://schemas.microsoft.com/office/powerpoint/2010/main" val="3812825445"/>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8E910-0782-B8B6-4236-EB01CF4391F5}"/>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8D1CF78D-BCEA-F16E-02CC-35A1702E07E7}"/>
              </a:ext>
            </a:extLst>
          </p:cNvPr>
          <p:cNvSpPr>
            <a:spLocks noGrp="1"/>
          </p:cNvSpPr>
          <p:nvPr>
            <p:ph type="title"/>
          </p:nvPr>
        </p:nvSpPr>
        <p:spPr>
          <a:xfrm>
            <a:off x="577850" y="249067"/>
            <a:ext cx="8923502" cy="480131"/>
          </a:xfrm>
        </p:spPr>
        <p:txBody>
          <a:bodyPr/>
          <a:lstStyle/>
          <a:p>
            <a:r>
              <a:rPr lang="zh-CN" altLang="en-US" dirty="0"/>
              <a:t>问题背景</a:t>
            </a:r>
          </a:p>
        </p:txBody>
      </p:sp>
      <p:sp>
        <p:nvSpPr>
          <p:cNvPr id="6" name="文本框 5">
            <a:extLst>
              <a:ext uri="{FF2B5EF4-FFF2-40B4-BE49-F238E27FC236}">
                <a16:creationId xmlns:a16="http://schemas.microsoft.com/office/drawing/2014/main" id="{3039862D-85FE-7DB0-DE61-618F830B684B}"/>
              </a:ext>
            </a:extLst>
          </p:cNvPr>
          <p:cNvSpPr txBox="1"/>
          <p:nvPr/>
        </p:nvSpPr>
        <p:spPr>
          <a:xfrm>
            <a:off x="577849" y="1062921"/>
            <a:ext cx="11009717" cy="3083536"/>
          </a:xfrm>
          <a:prstGeom prst="rect">
            <a:avLst/>
          </a:prstGeom>
          <a:noFill/>
        </p:spPr>
        <p:txBody>
          <a:bodyPr wrap="square" rtlCol="0">
            <a:spAutoFit/>
          </a:bodyPr>
          <a:lstStyle/>
          <a:p>
            <a:pPr lvl="0" algn="just" fontAlgn="base" hangingPunct="0">
              <a:lnSpc>
                <a:spcPct val="130000"/>
              </a:lnSpc>
              <a:spcBef>
                <a:spcPts val="600"/>
              </a:spcBef>
              <a:spcAft>
                <a:spcPts val="600"/>
              </a:spcAft>
              <a:buClr>
                <a:srgbClr val="006C39"/>
              </a:buClr>
              <a:defRPr/>
            </a:pPr>
            <a:r>
              <a:rPr lang="zh-CN" altLang="en-US" sz="1600" dirty="0">
                <a:solidFill>
                  <a:prstClr val="black"/>
                </a:solidFill>
              </a:rPr>
              <a:t>科研论文数量持续增长，研究者在做文献综述、方法复现、实验对比或论文精读时，经常需要从长篇论文中快速找到“某个问题的答案是什么、答案来自哪里、是否真的有论文证据支持”。传统关键词搜索只能返回论文或段落，不能直接给出带证据的答案；通用问答系统又容易在证据不足时生成看似合理但无法追溯的回答。因此，面向科研论文的证据约束问答具有明确的问题价值：</a:t>
            </a:r>
            <a:endParaRPr lang="en-US" altLang="zh-CN" sz="1600" dirty="0">
              <a:solidFill>
                <a:prstClr val="black"/>
              </a:solidFill>
            </a:endParaRP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科研效率：帮助研究者从长论文中快速定位方法、数据集、指标、实验结果和结论，降低人工翻阅成本。</a:t>
            </a:r>
            <a:endParaRPr lang="en-US" altLang="zh-CN" sz="1600" dirty="0">
              <a:solidFill>
                <a:prstClr val="black"/>
              </a:solidFill>
            </a:endParaRP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知识服务：可作为论文阅读助手、文献综述工具、科研问答系统和学术搜索增强模块的基础能力。</a:t>
            </a: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评测研究价值：该问题同时考察长文档检索、证据定位、不可回答问题识别和答案生成，是检验科研场景 </a:t>
            </a:r>
            <a:r>
              <a:rPr lang="en-US" altLang="zh-CN" sz="1600" dirty="0">
                <a:solidFill>
                  <a:prstClr val="black"/>
                </a:solidFill>
              </a:rPr>
              <a:t>QA </a:t>
            </a:r>
            <a:r>
              <a:rPr lang="zh-CN" altLang="en-US" sz="1600" dirty="0">
                <a:solidFill>
                  <a:prstClr val="black"/>
                </a:solidFill>
              </a:rPr>
              <a:t>系统可信性的典型任务。</a:t>
            </a:r>
            <a:endParaRPr lang="en-US" altLang="zh-CN" sz="1600" dirty="0">
              <a:solidFill>
                <a:prstClr val="black"/>
              </a:solidFill>
              <a:latin typeface="微软雅黑"/>
              <a:ea typeface="微软雅黑"/>
            </a:endParaRPr>
          </a:p>
        </p:txBody>
      </p:sp>
    </p:spTree>
    <p:extLst>
      <p:ext uri="{BB962C8B-B14F-4D97-AF65-F5344CB8AC3E}">
        <p14:creationId xmlns:p14="http://schemas.microsoft.com/office/powerpoint/2010/main" val="2590897703"/>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F47AE-5F86-138D-09B0-9D79F33A4A65}"/>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DBFCE5F9-22A1-3C97-360C-F7C99BB59908}"/>
              </a:ext>
            </a:extLst>
          </p:cNvPr>
          <p:cNvSpPr>
            <a:spLocks noGrp="1"/>
          </p:cNvSpPr>
          <p:nvPr>
            <p:ph type="title"/>
          </p:nvPr>
        </p:nvSpPr>
        <p:spPr>
          <a:xfrm>
            <a:off x="577850" y="249067"/>
            <a:ext cx="8923502" cy="480131"/>
          </a:xfrm>
        </p:spPr>
        <p:txBody>
          <a:bodyPr/>
          <a:lstStyle/>
          <a:p>
            <a:r>
              <a:rPr lang="zh-CN" altLang="en-US" dirty="0"/>
              <a:t>问题背景</a:t>
            </a:r>
          </a:p>
        </p:txBody>
      </p:sp>
      <p:sp>
        <p:nvSpPr>
          <p:cNvPr id="6" name="文本框 5">
            <a:extLst>
              <a:ext uri="{FF2B5EF4-FFF2-40B4-BE49-F238E27FC236}">
                <a16:creationId xmlns:a16="http://schemas.microsoft.com/office/drawing/2014/main" id="{87FE1FA6-7DF6-CE5C-9BD3-79B1466A9E4F}"/>
              </a:ext>
            </a:extLst>
          </p:cNvPr>
          <p:cNvSpPr txBox="1"/>
          <p:nvPr/>
        </p:nvSpPr>
        <p:spPr>
          <a:xfrm>
            <a:off x="577849" y="1062921"/>
            <a:ext cx="11009717" cy="1803186"/>
          </a:xfrm>
          <a:prstGeom prst="rect">
            <a:avLst/>
          </a:prstGeom>
          <a:noFill/>
        </p:spPr>
        <p:txBody>
          <a:bodyPr wrap="square" rtlCol="0">
            <a:spAutoFit/>
          </a:bodyPr>
          <a:lstStyle/>
          <a:p>
            <a:pPr lvl="0" algn="just" fontAlgn="base" hangingPunct="0">
              <a:lnSpc>
                <a:spcPct val="130000"/>
              </a:lnSpc>
              <a:spcBef>
                <a:spcPts val="600"/>
              </a:spcBef>
              <a:spcAft>
                <a:spcPts val="600"/>
              </a:spcAft>
              <a:buClr>
                <a:srgbClr val="006C39"/>
              </a:buClr>
              <a:defRPr/>
            </a:pPr>
            <a:r>
              <a:rPr lang="zh-CN" altLang="en-US" sz="1600" dirty="0">
                <a:solidFill>
                  <a:prstClr val="black"/>
                </a:solidFill>
              </a:rPr>
              <a:t>与普通短文本 </a:t>
            </a:r>
            <a:r>
              <a:rPr lang="en-US" altLang="zh-CN" sz="1600" dirty="0">
                <a:solidFill>
                  <a:prstClr val="black"/>
                </a:solidFill>
              </a:rPr>
              <a:t>QA </a:t>
            </a:r>
            <a:r>
              <a:rPr lang="zh-CN" altLang="en-US" sz="1600" dirty="0">
                <a:solidFill>
                  <a:prstClr val="black"/>
                </a:solidFill>
              </a:rPr>
              <a:t>相比，长文本论文问答任务有三个核心难点：</a:t>
            </a:r>
            <a:endParaRPr lang="en-US" altLang="zh-CN" sz="1600" dirty="0">
              <a:solidFill>
                <a:prstClr val="black"/>
              </a:solidFill>
            </a:endParaRP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长文档证据稀疏：一篇论文包含大量段落，答案通常只依赖少数证据句。</a:t>
            </a: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跨段落关联明显：问题中的方法、数据集、指标、实验结论可能分散在不同段落中，仅靠词面匹配容易漏召回。</a:t>
            </a: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存在不可回答问题：系统不仅要回答，还要能在证据不足时拒答，避免生成无依据答案。</a:t>
            </a:r>
            <a:endParaRPr lang="en-US" altLang="zh-CN" sz="1600" dirty="0">
              <a:solidFill>
                <a:prstClr val="black"/>
              </a:solidFill>
            </a:endParaRPr>
          </a:p>
        </p:txBody>
      </p:sp>
    </p:spTree>
    <p:extLst>
      <p:ext uri="{BB962C8B-B14F-4D97-AF65-F5344CB8AC3E}">
        <p14:creationId xmlns:p14="http://schemas.microsoft.com/office/powerpoint/2010/main" val="2349103851"/>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3C341-CDC9-3AC7-5932-CFC750BF6955}"/>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D1B0A243-9797-777D-16CD-7B7436106CB9}"/>
              </a:ext>
            </a:extLst>
          </p:cNvPr>
          <p:cNvSpPr>
            <a:spLocks noGrp="1"/>
          </p:cNvSpPr>
          <p:nvPr>
            <p:ph type="title"/>
          </p:nvPr>
        </p:nvSpPr>
        <p:spPr>
          <a:xfrm>
            <a:off x="577850" y="249067"/>
            <a:ext cx="8923502" cy="480131"/>
          </a:xfrm>
        </p:spPr>
        <p:txBody>
          <a:bodyPr/>
          <a:lstStyle/>
          <a:p>
            <a:r>
              <a:rPr lang="zh-CN" altLang="en-US" dirty="0"/>
              <a:t>数据介绍</a:t>
            </a:r>
          </a:p>
        </p:txBody>
      </p:sp>
      <p:sp>
        <p:nvSpPr>
          <p:cNvPr id="6" name="文本框 5">
            <a:extLst>
              <a:ext uri="{FF2B5EF4-FFF2-40B4-BE49-F238E27FC236}">
                <a16:creationId xmlns:a16="http://schemas.microsoft.com/office/drawing/2014/main" id="{73D27B0A-4D3C-6854-5CDA-FB610BAF0B8C}"/>
              </a:ext>
            </a:extLst>
          </p:cNvPr>
          <p:cNvSpPr txBox="1"/>
          <p:nvPr/>
        </p:nvSpPr>
        <p:spPr>
          <a:xfrm>
            <a:off x="577849" y="1062921"/>
            <a:ext cx="11009717" cy="1649298"/>
          </a:xfrm>
          <a:prstGeom prst="rect">
            <a:avLst/>
          </a:prstGeom>
          <a:noFill/>
        </p:spPr>
        <p:txBody>
          <a:bodyPr wrap="square" rtlCol="0">
            <a:spAutoFit/>
          </a:bodyPr>
          <a:lstStyle/>
          <a:p>
            <a:pPr marL="285750" lvl="0" indent="-285750" algn="just" fontAlgn="base" hangingPunct="0">
              <a:lnSpc>
                <a:spcPct val="130000"/>
              </a:lnSpc>
              <a:spcBef>
                <a:spcPts val="600"/>
              </a:spcBef>
              <a:spcAft>
                <a:spcPts val="600"/>
              </a:spcAft>
              <a:buClr>
                <a:srgbClr val="006C39"/>
              </a:buClr>
              <a:buFont typeface="Wingdings" panose="05000000000000000000" pitchFamily="2" charset="2"/>
              <a:buChar char="n"/>
              <a:defRPr/>
            </a:pPr>
            <a:r>
              <a:rPr lang="zh-CN" altLang="en-US" sz="1600" dirty="0">
                <a:solidFill>
                  <a:prstClr val="black"/>
                </a:solidFill>
              </a:rPr>
              <a:t>数据来源</a:t>
            </a:r>
            <a:endParaRPr lang="en-US" altLang="zh-CN" sz="1600" dirty="0">
              <a:solidFill>
                <a:prstClr val="black"/>
              </a:solidFill>
            </a:endParaRPr>
          </a:p>
          <a:p>
            <a:pPr lvl="0" algn="just" fontAlgn="base" hangingPunct="0">
              <a:lnSpc>
                <a:spcPct val="130000"/>
              </a:lnSpc>
              <a:spcBef>
                <a:spcPts val="600"/>
              </a:spcBef>
              <a:spcAft>
                <a:spcPts val="600"/>
              </a:spcAft>
              <a:buClr>
                <a:srgbClr val="006C39"/>
              </a:buClr>
              <a:defRPr/>
            </a:pPr>
            <a:r>
              <a:rPr lang="zh-CN" altLang="en-US" sz="1600" dirty="0">
                <a:solidFill>
                  <a:prstClr val="black"/>
                </a:solidFill>
              </a:rPr>
              <a:t>数据集为 </a:t>
            </a:r>
            <a:r>
              <a:rPr lang="en-US" altLang="zh-CN" sz="1600" dirty="0">
                <a:solidFill>
                  <a:prstClr val="black"/>
                </a:solidFill>
              </a:rPr>
              <a:t>QASPER v0.3</a:t>
            </a:r>
            <a:r>
              <a:rPr lang="zh-CN" altLang="en-US" sz="1600" dirty="0">
                <a:solidFill>
                  <a:prstClr val="black"/>
                </a:solidFill>
              </a:rPr>
              <a:t>。</a:t>
            </a:r>
            <a:r>
              <a:rPr lang="en-US" altLang="zh-CN" sz="1600" dirty="0">
                <a:solidFill>
                  <a:prstClr val="black"/>
                </a:solidFill>
              </a:rPr>
              <a:t>QASPER </a:t>
            </a:r>
            <a:r>
              <a:rPr lang="zh-CN" altLang="en-US" sz="1600" dirty="0">
                <a:solidFill>
                  <a:prstClr val="black"/>
                </a:solidFill>
              </a:rPr>
              <a:t>是面向自然语言处理论文的问答数据集，每个样本由论文全文、问题、答案标注和证据标注构成，问题围绕论文的任务设定、方法、数据、实验和结论展开。</a:t>
            </a:r>
            <a:endParaRPr lang="en-US" altLang="zh-CN" sz="1600" dirty="0">
              <a:solidFill>
                <a:prstClr val="black"/>
              </a:solidFill>
            </a:endParaRPr>
          </a:p>
          <a:p>
            <a:pPr marL="285750" lvl="0" indent="-285750" algn="just" fontAlgn="base" hangingPunct="0">
              <a:lnSpc>
                <a:spcPct val="130000"/>
              </a:lnSpc>
              <a:spcBef>
                <a:spcPts val="600"/>
              </a:spcBef>
              <a:spcAft>
                <a:spcPts val="600"/>
              </a:spcAft>
              <a:buClr>
                <a:srgbClr val="006C39"/>
              </a:buClr>
              <a:buFont typeface="Wingdings" panose="05000000000000000000" pitchFamily="2" charset="2"/>
              <a:buChar char="n"/>
              <a:defRPr/>
            </a:pPr>
            <a:r>
              <a:rPr lang="zh-CN" altLang="en-US" sz="1600" dirty="0">
                <a:solidFill>
                  <a:prstClr val="black"/>
                </a:solidFill>
              </a:rPr>
              <a:t>数据审计摘要</a:t>
            </a:r>
            <a:endParaRPr lang="en-US" altLang="zh-CN" sz="1600" dirty="0">
              <a:solidFill>
                <a:prstClr val="black"/>
              </a:solidFill>
            </a:endParaRPr>
          </a:p>
        </p:txBody>
      </p:sp>
      <p:pic>
        <p:nvPicPr>
          <p:cNvPr id="3" name="图片 2">
            <a:extLst>
              <a:ext uri="{FF2B5EF4-FFF2-40B4-BE49-F238E27FC236}">
                <a16:creationId xmlns:a16="http://schemas.microsoft.com/office/drawing/2014/main" id="{ABF18BFB-C1D4-3942-A651-558591452C11}"/>
              </a:ext>
            </a:extLst>
          </p:cNvPr>
          <p:cNvPicPr>
            <a:picLocks noChangeAspect="1"/>
          </p:cNvPicPr>
          <p:nvPr/>
        </p:nvPicPr>
        <p:blipFill>
          <a:blip r:embed="rId3"/>
          <a:stretch>
            <a:fillRect/>
          </a:stretch>
        </p:blipFill>
        <p:spPr>
          <a:xfrm>
            <a:off x="7169727" y="1908229"/>
            <a:ext cx="4960280" cy="4949771"/>
          </a:xfrm>
          <a:prstGeom prst="rect">
            <a:avLst/>
          </a:prstGeom>
        </p:spPr>
      </p:pic>
      <p:pic>
        <p:nvPicPr>
          <p:cNvPr id="5" name="图片 4">
            <a:extLst>
              <a:ext uri="{FF2B5EF4-FFF2-40B4-BE49-F238E27FC236}">
                <a16:creationId xmlns:a16="http://schemas.microsoft.com/office/drawing/2014/main" id="{B60BC445-93BF-EAC7-4F1E-F39C1AD5962F}"/>
              </a:ext>
            </a:extLst>
          </p:cNvPr>
          <p:cNvPicPr>
            <a:picLocks noChangeAspect="1"/>
          </p:cNvPicPr>
          <p:nvPr/>
        </p:nvPicPr>
        <p:blipFill>
          <a:blip r:embed="rId4"/>
          <a:stretch>
            <a:fillRect/>
          </a:stretch>
        </p:blipFill>
        <p:spPr>
          <a:xfrm>
            <a:off x="657728" y="2758517"/>
            <a:ext cx="5985879" cy="3443490"/>
          </a:xfrm>
          <a:prstGeom prst="rect">
            <a:avLst/>
          </a:prstGeom>
        </p:spPr>
      </p:pic>
    </p:spTree>
    <p:extLst>
      <p:ext uri="{BB962C8B-B14F-4D97-AF65-F5344CB8AC3E}">
        <p14:creationId xmlns:p14="http://schemas.microsoft.com/office/powerpoint/2010/main" val="728534196"/>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CAE76-05EA-06A6-45B9-7CBA13EF0C77}"/>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CD2F78F3-A90D-C4BD-734C-9BDFE50A4687}"/>
              </a:ext>
            </a:extLst>
          </p:cNvPr>
          <p:cNvSpPr>
            <a:spLocks noGrp="1"/>
          </p:cNvSpPr>
          <p:nvPr>
            <p:ph type="title"/>
          </p:nvPr>
        </p:nvSpPr>
        <p:spPr>
          <a:xfrm>
            <a:off x="577850" y="249067"/>
            <a:ext cx="8923502" cy="480131"/>
          </a:xfrm>
        </p:spPr>
        <p:txBody>
          <a:bodyPr/>
          <a:lstStyle/>
          <a:p>
            <a:r>
              <a:rPr lang="zh-CN" altLang="en-US" dirty="0"/>
              <a:t>技术方案</a:t>
            </a:r>
          </a:p>
        </p:txBody>
      </p:sp>
      <p:sp>
        <p:nvSpPr>
          <p:cNvPr id="6" name="文本框 5">
            <a:extLst>
              <a:ext uri="{FF2B5EF4-FFF2-40B4-BE49-F238E27FC236}">
                <a16:creationId xmlns:a16="http://schemas.microsoft.com/office/drawing/2014/main" id="{BDF1AEBF-C5C8-7D2E-F84F-16DF7BB55E53}"/>
              </a:ext>
            </a:extLst>
          </p:cNvPr>
          <p:cNvSpPr txBox="1"/>
          <p:nvPr/>
        </p:nvSpPr>
        <p:spPr>
          <a:xfrm>
            <a:off x="443531" y="1021592"/>
            <a:ext cx="6508363" cy="2135585"/>
          </a:xfrm>
          <a:prstGeom prst="rect">
            <a:avLst/>
          </a:prstGeom>
          <a:noFill/>
        </p:spPr>
        <p:txBody>
          <a:bodyPr wrap="square" rtlCol="0">
            <a:spAutoFit/>
          </a:bodyPr>
          <a:lstStyle/>
          <a:p>
            <a:pPr lvl="0" algn="just" fontAlgn="base" hangingPunct="0">
              <a:lnSpc>
                <a:spcPct val="130000"/>
              </a:lnSpc>
              <a:spcBef>
                <a:spcPts val="600"/>
              </a:spcBef>
              <a:spcAft>
                <a:spcPts val="600"/>
              </a:spcAft>
              <a:buClr>
                <a:srgbClr val="006C39"/>
              </a:buClr>
              <a:defRPr/>
            </a:pPr>
            <a:r>
              <a:rPr lang="zh-CN" altLang="en-US" sz="1600" dirty="0">
                <a:solidFill>
                  <a:prstClr val="black"/>
                </a:solidFill>
              </a:rPr>
              <a:t>针对长篇计算机科学论文问答任务，基于 </a:t>
            </a:r>
            <a:r>
              <a:rPr lang="en-US" altLang="zh-CN" sz="1600" dirty="0">
                <a:solidFill>
                  <a:prstClr val="black"/>
                </a:solidFill>
              </a:rPr>
              <a:t>QASPER </a:t>
            </a:r>
            <a:r>
              <a:rPr lang="zh-CN" altLang="en-US" sz="1600" dirty="0">
                <a:solidFill>
                  <a:prstClr val="black"/>
                </a:solidFill>
              </a:rPr>
              <a:t>数据集实现</a:t>
            </a:r>
            <a:r>
              <a:rPr lang="en-US" altLang="zh-CN" sz="1600" dirty="0">
                <a:solidFill>
                  <a:prstClr val="black"/>
                </a:solidFill>
              </a:rPr>
              <a:t>HGESQA(Hybrid </a:t>
            </a:r>
            <a:r>
              <a:rPr lang="en-US" altLang="zh-CN" sz="1600" dirty="0" err="1">
                <a:solidFill>
                  <a:prstClr val="black"/>
                </a:solidFill>
              </a:rPr>
              <a:t>GraphRAG</a:t>
            </a:r>
            <a:r>
              <a:rPr lang="en-US" altLang="zh-CN" sz="1600" dirty="0">
                <a:solidFill>
                  <a:prstClr val="black"/>
                </a:solidFill>
              </a:rPr>
              <a:t> for Evidence-aware Scientific QA)</a:t>
            </a:r>
            <a:r>
              <a:rPr lang="zh-CN" altLang="en-US" sz="1600" dirty="0">
                <a:solidFill>
                  <a:prstClr val="black"/>
                </a:solidFill>
              </a:rPr>
              <a:t>方法。</a:t>
            </a:r>
            <a:endParaRPr lang="en-US" altLang="zh-CN" sz="1600" dirty="0">
              <a:solidFill>
                <a:prstClr val="black"/>
              </a:solidFill>
            </a:endParaRPr>
          </a:p>
          <a:p>
            <a:pPr lvl="0" algn="just" fontAlgn="base" hangingPunct="0">
              <a:lnSpc>
                <a:spcPct val="130000"/>
              </a:lnSpc>
              <a:spcBef>
                <a:spcPts val="600"/>
              </a:spcBef>
              <a:spcAft>
                <a:spcPts val="600"/>
              </a:spcAft>
              <a:buClr>
                <a:srgbClr val="006C39"/>
              </a:buClr>
              <a:defRPr/>
            </a:pPr>
            <a:r>
              <a:rPr lang="zh-CN" altLang="en-US" sz="1600" dirty="0">
                <a:solidFill>
                  <a:prstClr val="black"/>
                </a:solidFill>
              </a:rPr>
              <a:t>目标是完成从数据下载、数据审计、证据检索、图增强召回、答案候选校准、拒答判断到实验结果生成的完整流程。并进行一系列的实验验证。</a:t>
            </a:r>
            <a:endParaRPr lang="en-US" altLang="zh-CN" sz="1600" dirty="0">
              <a:solidFill>
                <a:prstClr val="black"/>
              </a:solidFill>
            </a:endParaRPr>
          </a:p>
        </p:txBody>
      </p:sp>
      <p:pic>
        <p:nvPicPr>
          <p:cNvPr id="3" name="图片 2">
            <a:extLst>
              <a:ext uri="{FF2B5EF4-FFF2-40B4-BE49-F238E27FC236}">
                <a16:creationId xmlns:a16="http://schemas.microsoft.com/office/drawing/2014/main" id="{EEFBD827-F6CF-A701-2045-E0C719E634CB}"/>
              </a:ext>
            </a:extLst>
          </p:cNvPr>
          <p:cNvPicPr>
            <a:picLocks noChangeAspect="1"/>
          </p:cNvPicPr>
          <p:nvPr/>
        </p:nvPicPr>
        <p:blipFill>
          <a:blip r:embed="rId3"/>
          <a:stretch>
            <a:fillRect/>
          </a:stretch>
        </p:blipFill>
        <p:spPr>
          <a:xfrm>
            <a:off x="6951894" y="0"/>
            <a:ext cx="4911156" cy="6858000"/>
          </a:xfrm>
          <a:prstGeom prst="rect">
            <a:avLst/>
          </a:prstGeom>
        </p:spPr>
      </p:pic>
    </p:spTree>
    <p:extLst>
      <p:ext uri="{BB962C8B-B14F-4D97-AF65-F5344CB8AC3E}">
        <p14:creationId xmlns:p14="http://schemas.microsoft.com/office/powerpoint/2010/main" val="418360379"/>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4CDF9-C9D7-6A12-FDE9-FCB7BF149E84}"/>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2944BC1D-8A44-4B9D-E653-FD65D7D4092A}"/>
              </a:ext>
            </a:extLst>
          </p:cNvPr>
          <p:cNvSpPr>
            <a:spLocks noGrp="1"/>
          </p:cNvSpPr>
          <p:nvPr>
            <p:ph type="title"/>
          </p:nvPr>
        </p:nvSpPr>
        <p:spPr>
          <a:xfrm>
            <a:off x="577850" y="249067"/>
            <a:ext cx="8923502" cy="480131"/>
          </a:xfrm>
        </p:spPr>
        <p:txBody>
          <a:bodyPr/>
          <a:lstStyle/>
          <a:p>
            <a:r>
              <a:rPr lang="en-US" altLang="zh-CN" dirty="0"/>
              <a:t>baselines</a:t>
            </a:r>
            <a:endParaRPr lang="zh-CN" altLang="en-US" dirty="0"/>
          </a:p>
        </p:txBody>
      </p:sp>
      <p:sp>
        <p:nvSpPr>
          <p:cNvPr id="7" name="文本框 6">
            <a:extLst>
              <a:ext uri="{FF2B5EF4-FFF2-40B4-BE49-F238E27FC236}">
                <a16:creationId xmlns:a16="http://schemas.microsoft.com/office/drawing/2014/main" id="{03CBC936-F7FC-A4F0-9D73-70B41666F116}"/>
              </a:ext>
            </a:extLst>
          </p:cNvPr>
          <p:cNvSpPr txBox="1"/>
          <p:nvPr/>
        </p:nvSpPr>
        <p:spPr>
          <a:xfrm>
            <a:off x="577849" y="1062921"/>
            <a:ext cx="11009717" cy="3249736"/>
          </a:xfrm>
          <a:prstGeom prst="rect">
            <a:avLst/>
          </a:prstGeom>
          <a:noFill/>
        </p:spPr>
        <p:txBody>
          <a:bodyPr wrap="square" rtlCol="0">
            <a:spAutoFit/>
          </a:bodyPr>
          <a:lstStyle/>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en-US" altLang="zh-CN" sz="1600" dirty="0">
                <a:solidFill>
                  <a:prstClr val="black"/>
                </a:solidFill>
              </a:rPr>
              <a:t>TF-IDF RAG</a:t>
            </a:r>
            <a:r>
              <a:rPr lang="zh-CN" altLang="en-US" sz="1600" dirty="0">
                <a:solidFill>
                  <a:prstClr val="black"/>
                </a:solidFill>
              </a:rPr>
              <a:t>：将每个论文段落视为一个候选文档，对问题和段落进行词项统计；用 </a:t>
            </a:r>
            <a:r>
              <a:rPr lang="en-US" altLang="zh-CN" sz="1600" dirty="0">
                <a:solidFill>
                  <a:prstClr val="black"/>
                </a:solidFill>
              </a:rPr>
              <a:t>TF-IDF </a:t>
            </a:r>
            <a:r>
              <a:rPr lang="zh-CN" altLang="en-US" sz="1600" dirty="0">
                <a:solidFill>
                  <a:prstClr val="black"/>
                </a:solidFill>
              </a:rPr>
              <a:t>权重突出在当前问题中重要、但在全文语料中不常见的词，再计算问题向量与段落向量的余弦相似度，按分数返回 </a:t>
            </a:r>
            <a:r>
              <a:rPr lang="en-US" altLang="zh-CN" sz="1600" dirty="0">
                <a:solidFill>
                  <a:prstClr val="black"/>
                </a:solidFill>
              </a:rPr>
              <a:t>Top-K </a:t>
            </a:r>
            <a:r>
              <a:rPr lang="zh-CN" altLang="en-US" sz="1600" dirty="0">
                <a:solidFill>
                  <a:prstClr val="black"/>
                </a:solidFill>
              </a:rPr>
              <a:t>证据段落，并基于这些证据抽取答案。</a:t>
            </a:r>
            <a:endParaRPr lang="en-US" altLang="zh-CN" sz="1600" dirty="0">
              <a:solidFill>
                <a:prstClr val="black"/>
              </a:solidFill>
            </a:endParaRP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en-US" altLang="zh-CN" sz="1600" dirty="0">
                <a:solidFill>
                  <a:prstClr val="black"/>
                </a:solidFill>
              </a:rPr>
              <a:t>BM25-RAG</a:t>
            </a:r>
            <a:r>
              <a:rPr lang="zh-CN" altLang="en-US" sz="1600" dirty="0">
                <a:solidFill>
                  <a:prstClr val="black"/>
                </a:solidFill>
              </a:rPr>
              <a:t>：同样以论文段落为检索单元，但使用 </a:t>
            </a:r>
            <a:r>
              <a:rPr lang="en-US" altLang="zh-CN" sz="1600" dirty="0">
                <a:solidFill>
                  <a:prstClr val="black"/>
                </a:solidFill>
              </a:rPr>
              <a:t>BM25 </a:t>
            </a:r>
            <a:r>
              <a:rPr lang="zh-CN" altLang="en-US" sz="1600" dirty="0">
                <a:solidFill>
                  <a:prstClr val="black"/>
                </a:solidFill>
              </a:rPr>
              <a:t>打分函数；它会同时考虑查询词命中、词频饱和、逆文档频率和段落长度归一化，使长短段落之间的比较更稳健。系统按 </a:t>
            </a:r>
            <a:r>
              <a:rPr lang="en-US" altLang="zh-CN" sz="1600" dirty="0">
                <a:solidFill>
                  <a:prstClr val="black"/>
                </a:solidFill>
              </a:rPr>
              <a:t>BM25 </a:t>
            </a:r>
            <a:r>
              <a:rPr lang="zh-CN" altLang="en-US" sz="1600" dirty="0">
                <a:solidFill>
                  <a:prstClr val="black"/>
                </a:solidFill>
              </a:rPr>
              <a:t>分数选择 </a:t>
            </a:r>
            <a:r>
              <a:rPr lang="en-US" altLang="zh-CN" sz="1600" dirty="0">
                <a:solidFill>
                  <a:prstClr val="black"/>
                </a:solidFill>
              </a:rPr>
              <a:t>Top-K </a:t>
            </a:r>
            <a:r>
              <a:rPr lang="zh-CN" altLang="en-US" sz="1600" dirty="0">
                <a:solidFill>
                  <a:prstClr val="black"/>
                </a:solidFill>
              </a:rPr>
              <a:t>证据，再进入统一的答案抽取与评估流程。</a:t>
            </a:r>
            <a:endParaRPr lang="en-US" altLang="zh-CN" sz="1600" dirty="0">
              <a:solidFill>
                <a:prstClr val="black"/>
              </a:solidFill>
            </a:endParaRP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en-US" altLang="zh-CN" sz="1600" dirty="0">
                <a:solidFill>
                  <a:prstClr val="black"/>
                </a:solidFill>
              </a:rPr>
              <a:t>Dense Hash Vector RAG</a:t>
            </a:r>
            <a:r>
              <a:rPr lang="zh-CN" altLang="en-US" sz="1600" dirty="0">
                <a:solidFill>
                  <a:prstClr val="black"/>
                </a:solidFill>
              </a:rPr>
              <a:t>：构造一个稠密式检索对照，将词项通过确定性哈希映射到固定维度向量空间，并叠加 </a:t>
            </a:r>
            <a:r>
              <a:rPr lang="en-US" altLang="zh-CN" sz="1600" dirty="0">
                <a:solidFill>
                  <a:prstClr val="black"/>
                </a:solidFill>
              </a:rPr>
              <a:t>IDF </a:t>
            </a:r>
            <a:r>
              <a:rPr lang="zh-CN" altLang="en-US" sz="1600" dirty="0">
                <a:solidFill>
                  <a:prstClr val="black"/>
                </a:solidFill>
              </a:rPr>
              <a:t>加权后的词频特征；问题和段落都被表示为同维向量，再用余弦相似度检索 </a:t>
            </a:r>
            <a:r>
              <a:rPr lang="en-US" altLang="zh-CN" sz="1600" dirty="0">
                <a:solidFill>
                  <a:prstClr val="black"/>
                </a:solidFill>
              </a:rPr>
              <a:t>Top-K </a:t>
            </a:r>
            <a:r>
              <a:rPr lang="zh-CN" altLang="en-US" sz="1600" dirty="0">
                <a:solidFill>
                  <a:prstClr val="black"/>
                </a:solidFill>
              </a:rPr>
              <a:t>段落。该方法用于模拟轻量向量召回路径，便于和稀疏检索、图增强检索对比。</a:t>
            </a:r>
            <a:endParaRPr lang="en-US" altLang="zh-CN" sz="1600" dirty="0">
              <a:solidFill>
                <a:prstClr val="black"/>
              </a:solidFill>
            </a:endParaRPr>
          </a:p>
        </p:txBody>
      </p:sp>
    </p:spTree>
    <p:extLst>
      <p:ext uri="{BB962C8B-B14F-4D97-AF65-F5344CB8AC3E}">
        <p14:creationId xmlns:p14="http://schemas.microsoft.com/office/powerpoint/2010/main" val="2197721716"/>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03A64-E24C-5B5E-43B8-12CDECFDD48B}"/>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50714641-440A-7A37-E65F-3416CC9BB8F1}"/>
              </a:ext>
            </a:extLst>
          </p:cNvPr>
          <p:cNvSpPr>
            <a:spLocks noGrp="1"/>
          </p:cNvSpPr>
          <p:nvPr>
            <p:ph type="title"/>
          </p:nvPr>
        </p:nvSpPr>
        <p:spPr>
          <a:xfrm>
            <a:off x="577850" y="249067"/>
            <a:ext cx="8923502" cy="480131"/>
          </a:xfrm>
        </p:spPr>
        <p:txBody>
          <a:bodyPr/>
          <a:lstStyle/>
          <a:p>
            <a:r>
              <a:rPr lang="zh-CN" altLang="en-US" dirty="0"/>
              <a:t>创新点</a:t>
            </a:r>
          </a:p>
        </p:txBody>
      </p:sp>
      <p:sp>
        <p:nvSpPr>
          <p:cNvPr id="6" name="文本框 5">
            <a:extLst>
              <a:ext uri="{FF2B5EF4-FFF2-40B4-BE49-F238E27FC236}">
                <a16:creationId xmlns:a16="http://schemas.microsoft.com/office/drawing/2014/main" id="{58A68BC2-C84C-A5E3-FEE2-53F50E062418}"/>
              </a:ext>
            </a:extLst>
          </p:cNvPr>
          <p:cNvSpPr txBox="1"/>
          <p:nvPr/>
        </p:nvSpPr>
        <p:spPr>
          <a:xfrm>
            <a:off x="577849" y="1062921"/>
            <a:ext cx="11009717" cy="2123274"/>
          </a:xfrm>
          <a:prstGeom prst="rect">
            <a:avLst/>
          </a:prstGeom>
          <a:noFill/>
        </p:spPr>
        <p:txBody>
          <a:bodyPr wrap="square" rtlCol="0">
            <a:spAutoFit/>
          </a:bodyPr>
          <a:lstStyle/>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段落级术语共现图：以段落为证据节点，以术语共现关系作为轻量关系边，实现无需外部图数据库的可解释图增强检索。</a:t>
            </a:r>
            <a:endParaRPr lang="en-US" altLang="zh-CN" sz="1600" dirty="0">
              <a:solidFill>
                <a:prstClr val="black"/>
              </a:solidFill>
            </a:endParaRP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关系边扩展召回：从种子证据出发，经术语关系边扩展候选段落，提升长论文证据覆盖率。</a:t>
            </a:r>
            <a:endParaRPr lang="en-US" altLang="zh-CN" sz="1600" dirty="0">
              <a:solidFill>
                <a:prstClr val="black"/>
              </a:solidFill>
            </a:endParaRP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答案候选校准：在证据句中保留候选答案，使拒答样本仍能在答案质量指标中体现可抽取信息。</a:t>
            </a:r>
            <a:endParaRPr lang="en-US" altLang="zh-CN" sz="1600" dirty="0">
              <a:solidFill>
                <a:prstClr val="black"/>
              </a:solidFill>
            </a:endParaRP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证据约束式拒答：基于证据支持度判断是否拒答，降低不可回答问题上的无依据输出。</a:t>
            </a:r>
            <a:endParaRPr lang="en-US" altLang="zh-CN" sz="1600" dirty="0">
              <a:solidFill>
                <a:prstClr val="black"/>
              </a:solidFill>
            </a:endParaRPr>
          </a:p>
        </p:txBody>
      </p:sp>
    </p:spTree>
    <p:extLst>
      <p:ext uri="{BB962C8B-B14F-4D97-AF65-F5344CB8AC3E}">
        <p14:creationId xmlns:p14="http://schemas.microsoft.com/office/powerpoint/2010/main" val="3859951732"/>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39691-F6A2-3577-3827-1CE5CE19B4F0}"/>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3B252988-32CD-F46C-0BE5-D5FDDF1CDDD5}"/>
              </a:ext>
            </a:extLst>
          </p:cNvPr>
          <p:cNvSpPr>
            <a:spLocks noGrp="1"/>
          </p:cNvSpPr>
          <p:nvPr>
            <p:ph type="title"/>
          </p:nvPr>
        </p:nvSpPr>
        <p:spPr>
          <a:xfrm>
            <a:off x="577850" y="249067"/>
            <a:ext cx="8923502" cy="480131"/>
          </a:xfrm>
        </p:spPr>
        <p:txBody>
          <a:bodyPr/>
          <a:lstStyle/>
          <a:p>
            <a:r>
              <a:rPr lang="zh-CN" altLang="en-US" dirty="0"/>
              <a:t>实验结果</a:t>
            </a:r>
          </a:p>
        </p:txBody>
      </p:sp>
      <p:pic>
        <p:nvPicPr>
          <p:cNvPr id="3" name="图片 2">
            <a:extLst>
              <a:ext uri="{FF2B5EF4-FFF2-40B4-BE49-F238E27FC236}">
                <a16:creationId xmlns:a16="http://schemas.microsoft.com/office/drawing/2014/main" id="{4EC53F7E-B085-F401-4633-3039AC957080}"/>
              </a:ext>
            </a:extLst>
          </p:cNvPr>
          <p:cNvPicPr>
            <a:picLocks noChangeAspect="1"/>
          </p:cNvPicPr>
          <p:nvPr/>
        </p:nvPicPr>
        <p:blipFill>
          <a:blip r:embed="rId3"/>
          <a:stretch>
            <a:fillRect/>
          </a:stretch>
        </p:blipFill>
        <p:spPr>
          <a:xfrm>
            <a:off x="577849" y="1549830"/>
            <a:ext cx="8130216" cy="1687934"/>
          </a:xfrm>
          <a:prstGeom prst="rect">
            <a:avLst/>
          </a:prstGeom>
        </p:spPr>
      </p:pic>
      <p:sp>
        <p:nvSpPr>
          <p:cNvPr id="5" name="文本框 4">
            <a:extLst>
              <a:ext uri="{FF2B5EF4-FFF2-40B4-BE49-F238E27FC236}">
                <a16:creationId xmlns:a16="http://schemas.microsoft.com/office/drawing/2014/main" id="{EA6A60FC-0224-BE95-46F9-BEB64B6B93B8}"/>
              </a:ext>
            </a:extLst>
          </p:cNvPr>
          <p:cNvSpPr txBox="1"/>
          <p:nvPr/>
        </p:nvSpPr>
        <p:spPr>
          <a:xfrm>
            <a:off x="577849" y="1062921"/>
            <a:ext cx="11009717" cy="381258"/>
          </a:xfrm>
          <a:prstGeom prst="rect">
            <a:avLst/>
          </a:prstGeom>
          <a:noFill/>
        </p:spPr>
        <p:txBody>
          <a:bodyPr wrap="square" rtlCol="0">
            <a:spAutoFit/>
          </a:bodyPr>
          <a:lstStyle/>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Overall Results</a:t>
            </a:r>
          </a:p>
        </p:txBody>
      </p:sp>
      <p:sp>
        <p:nvSpPr>
          <p:cNvPr id="8" name="文本框 7">
            <a:extLst>
              <a:ext uri="{FF2B5EF4-FFF2-40B4-BE49-F238E27FC236}">
                <a16:creationId xmlns:a16="http://schemas.microsoft.com/office/drawing/2014/main" id="{A726FFBD-C802-6546-47E5-078709D3F0A7}"/>
              </a:ext>
            </a:extLst>
          </p:cNvPr>
          <p:cNvSpPr txBox="1"/>
          <p:nvPr/>
        </p:nvSpPr>
        <p:spPr>
          <a:xfrm>
            <a:off x="577848" y="3367433"/>
            <a:ext cx="11009717" cy="381258"/>
          </a:xfrm>
          <a:prstGeom prst="rect">
            <a:avLst/>
          </a:prstGeom>
          <a:noFill/>
        </p:spPr>
        <p:txBody>
          <a:bodyPr wrap="square" rtlCol="0">
            <a:spAutoFit/>
          </a:bodyPr>
          <a:lstStyle/>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Ablation Study</a:t>
            </a:r>
          </a:p>
        </p:txBody>
      </p:sp>
      <p:pic>
        <p:nvPicPr>
          <p:cNvPr id="11" name="图片 10">
            <a:extLst>
              <a:ext uri="{FF2B5EF4-FFF2-40B4-BE49-F238E27FC236}">
                <a16:creationId xmlns:a16="http://schemas.microsoft.com/office/drawing/2014/main" id="{D4909B70-5910-2E4E-C1F5-1DFDAACD0FE7}"/>
              </a:ext>
            </a:extLst>
          </p:cNvPr>
          <p:cNvPicPr>
            <a:picLocks noChangeAspect="1"/>
          </p:cNvPicPr>
          <p:nvPr/>
        </p:nvPicPr>
        <p:blipFill>
          <a:blip r:embed="rId4"/>
          <a:stretch>
            <a:fillRect/>
          </a:stretch>
        </p:blipFill>
        <p:spPr>
          <a:xfrm>
            <a:off x="577848" y="3815062"/>
            <a:ext cx="8059119" cy="1345956"/>
          </a:xfrm>
          <a:prstGeom prst="rect">
            <a:avLst/>
          </a:prstGeom>
        </p:spPr>
      </p:pic>
    </p:spTree>
    <p:extLst>
      <p:ext uri="{BB962C8B-B14F-4D97-AF65-F5344CB8AC3E}">
        <p14:creationId xmlns:p14="http://schemas.microsoft.com/office/powerpoint/2010/main" val="3557134834"/>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80833-EBE1-6037-2133-6ED0D91F1A55}"/>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15CBBB90-E825-9298-BCEC-61804D5CAE5B}"/>
              </a:ext>
            </a:extLst>
          </p:cNvPr>
          <p:cNvSpPr>
            <a:spLocks noGrp="1"/>
          </p:cNvSpPr>
          <p:nvPr>
            <p:ph type="title"/>
          </p:nvPr>
        </p:nvSpPr>
        <p:spPr>
          <a:xfrm>
            <a:off x="577850" y="249067"/>
            <a:ext cx="8923502" cy="480131"/>
          </a:xfrm>
        </p:spPr>
        <p:txBody>
          <a:bodyPr/>
          <a:lstStyle/>
          <a:p>
            <a:r>
              <a:rPr lang="zh-CN" altLang="en-US" dirty="0"/>
              <a:t>实验结果</a:t>
            </a:r>
          </a:p>
        </p:txBody>
      </p:sp>
      <p:sp>
        <p:nvSpPr>
          <p:cNvPr id="6" name="文本框 5">
            <a:extLst>
              <a:ext uri="{FF2B5EF4-FFF2-40B4-BE49-F238E27FC236}">
                <a16:creationId xmlns:a16="http://schemas.microsoft.com/office/drawing/2014/main" id="{51A3B077-EDB5-1923-65FE-4FC5173E5AA3}"/>
              </a:ext>
            </a:extLst>
          </p:cNvPr>
          <p:cNvSpPr txBox="1"/>
          <p:nvPr/>
        </p:nvSpPr>
        <p:spPr>
          <a:xfrm>
            <a:off x="577849" y="1062921"/>
            <a:ext cx="11009717" cy="4339265"/>
          </a:xfrm>
          <a:prstGeom prst="rect">
            <a:avLst/>
          </a:prstGeom>
          <a:noFill/>
        </p:spPr>
        <p:txBody>
          <a:bodyPr wrap="square" rtlCol="0">
            <a:spAutoFit/>
          </a:bodyPr>
          <a:lstStyle/>
          <a:p>
            <a:pPr marL="285750" lvl="0" indent="-285750" algn="just" fontAlgn="base" hangingPunct="0">
              <a:lnSpc>
                <a:spcPct val="130000"/>
              </a:lnSpc>
              <a:spcBef>
                <a:spcPts val="600"/>
              </a:spcBef>
              <a:spcAft>
                <a:spcPts val="600"/>
              </a:spcAft>
              <a:buClr>
                <a:srgbClr val="006C39"/>
              </a:buClr>
              <a:buFont typeface="Wingdings" panose="05000000000000000000" pitchFamily="2" charset="2"/>
              <a:buChar char="n"/>
              <a:defRPr/>
            </a:pPr>
            <a:r>
              <a:rPr lang="zh-CN" altLang="en-US" sz="1600" dirty="0">
                <a:solidFill>
                  <a:prstClr val="black"/>
                </a:solidFill>
              </a:rPr>
              <a:t>失败案例分析</a:t>
            </a:r>
            <a:endParaRPr lang="en-US" altLang="zh-CN" sz="1600" dirty="0">
              <a:solidFill>
                <a:prstClr val="black"/>
              </a:solidFill>
            </a:endParaRPr>
          </a:p>
          <a:p>
            <a:pPr lvl="0" algn="just" fontAlgn="base" hangingPunct="0">
              <a:lnSpc>
                <a:spcPct val="130000"/>
              </a:lnSpc>
              <a:spcBef>
                <a:spcPts val="600"/>
              </a:spcBef>
              <a:spcAft>
                <a:spcPts val="600"/>
              </a:spcAft>
              <a:buClr>
                <a:srgbClr val="006C39"/>
              </a:buClr>
              <a:defRPr/>
            </a:pPr>
            <a:r>
              <a:rPr lang="zh-CN" altLang="en-US" sz="1600" dirty="0">
                <a:solidFill>
                  <a:prstClr val="black"/>
                </a:solidFill>
              </a:rPr>
              <a:t>失败案例：</a:t>
            </a:r>
          </a:p>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 Question: What are the results?</a:t>
            </a:r>
          </a:p>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 Gold evidence IDs: 1909.00694::p0036, 1909.00694::p0038</a:t>
            </a:r>
          </a:p>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 Retrieved evidence IDs: 1909.00694::p0026, 1909.00694::p0042, 1909.00694::p0004, 1909.00694::p0000, 1909.00694::p0050</a:t>
            </a:r>
          </a:p>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 Predicted answer: The results are shown in Table TABREF16.</a:t>
            </a:r>
          </a:p>
          <a:p>
            <a:pPr lvl="0" algn="just" fontAlgn="base" hangingPunct="0">
              <a:lnSpc>
                <a:spcPct val="130000"/>
              </a:lnSpc>
              <a:spcBef>
                <a:spcPts val="600"/>
              </a:spcBef>
              <a:spcAft>
                <a:spcPts val="600"/>
              </a:spcAft>
              <a:buClr>
                <a:srgbClr val="006C39"/>
              </a:buClr>
              <a:defRPr/>
            </a:pPr>
            <a:endParaRPr lang="en-US" altLang="zh-CN" sz="1600" dirty="0">
              <a:solidFill>
                <a:prstClr val="black"/>
              </a:solidFill>
            </a:endParaRPr>
          </a:p>
          <a:p>
            <a:pPr lvl="0" algn="just" fontAlgn="base" hangingPunct="0">
              <a:lnSpc>
                <a:spcPct val="130000"/>
              </a:lnSpc>
              <a:spcBef>
                <a:spcPts val="600"/>
              </a:spcBef>
              <a:spcAft>
                <a:spcPts val="600"/>
              </a:spcAft>
              <a:buClr>
                <a:srgbClr val="006C39"/>
              </a:buClr>
              <a:defRPr/>
            </a:pPr>
            <a:r>
              <a:rPr lang="zh-CN" altLang="en-US" sz="1600" dirty="0">
                <a:solidFill>
                  <a:prstClr val="black"/>
                </a:solidFill>
              </a:rPr>
              <a:t>分析：该问题需要综合多个实验结果段落和表格信息。当前系统能提升证据召回，但答案生成仍是规则抽取式，无法充分整合表格与多段证据，因此容易输出局部、泛化的答案。</a:t>
            </a:r>
            <a:endParaRPr lang="en-US" altLang="zh-CN" sz="1600" dirty="0">
              <a:solidFill>
                <a:prstClr val="black"/>
              </a:solidFill>
            </a:endParaRPr>
          </a:p>
        </p:txBody>
      </p:sp>
    </p:spTree>
    <p:extLst>
      <p:ext uri="{BB962C8B-B14F-4D97-AF65-F5344CB8AC3E}">
        <p14:creationId xmlns:p14="http://schemas.microsoft.com/office/powerpoint/2010/main" val="3529226503"/>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953E2-7668-525E-9538-D09B8AD6B90F}"/>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FD6D3C42-2F04-6EB2-983F-068EA54E45C2}"/>
              </a:ext>
            </a:extLst>
          </p:cNvPr>
          <p:cNvSpPr>
            <a:spLocks noGrp="1"/>
          </p:cNvSpPr>
          <p:nvPr>
            <p:ph type="title"/>
          </p:nvPr>
        </p:nvSpPr>
        <p:spPr>
          <a:xfrm>
            <a:off x="577850" y="249067"/>
            <a:ext cx="8923502" cy="480131"/>
          </a:xfrm>
        </p:spPr>
        <p:txBody>
          <a:bodyPr/>
          <a:lstStyle/>
          <a:p>
            <a:r>
              <a:rPr lang="zh-CN" altLang="en-US" dirty="0"/>
              <a:t>总结</a:t>
            </a:r>
          </a:p>
        </p:txBody>
      </p:sp>
      <p:sp>
        <p:nvSpPr>
          <p:cNvPr id="6" name="文本框 5">
            <a:extLst>
              <a:ext uri="{FF2B5EF4-FFF2-40B4-BE49-F238E27FC236}">
                <a16:creationId xmlns:a16="http://schemas.microsoft.com/office/drawing/2014/main" id="{69FA873E-6E17-1C07-5633-F45AA67760AB}"/>
              </a:ext>
            </a:extLst>
          </p:cNvPr>
          <p:cNvSpPr txBox="1"/>
          <p:nvPr/>
        </p:nvSpPr>
        <p:spPr>
          <a:xfrm>
            <a:off x="577849" y="1062921"/>
            <a:ext cx="11009717" cy="5121017"/>
          </a:xfrm>
          <a:prstGeom prst="rect">
            <a:avLst/>
          </a:prstGeom>
          <a:noFill/>
        </p:spPr>
        <p:txBody>
          <a:bodyPr wrap="square" rtlCol="0">
            <a:spAutoFit/>
          </a:bodyPr>
          <a:lstStyle/>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主要贡献</a:t>
            </a:r>
          </a:p>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 </a:t>
            </a:r>
            <a:r>
              <a:rPr lang="zh-CN" altLang="en-US" sz="1600" dirty="0">
                <a:solidFill>
                  <a:prstClr val="black"/>
                </a:solidFill>
              </a:rPr>
              <a:t>完成 </a:t>
            </a:r>
            <a:r>
              <a:rPr lang="en-US" altLang="zh-CN" sz="1600" dirty="0">
                <a:solidFill>
                  <a:prstClr val="black"/>
                </a:solidFill>
              </a:rPr>
              <a:t>QASPER </a:t>
            </a:r>
            <a:r>
              <a:rPr lang="zh-CN" altLang="en-US" sz="1600" dirty="0">
                <a:solidFill>
                  <a:prstClr val="black"/>
                </a:solidFill>
              </a:rPr>
              <a:t>数据规范化、审计、检索、</a:t>
            </a:r>
            <a:r>
              <a:rPr lang="en-US" altLang="zh-CN" sz="1600" dirty="0" err="1">
                <a:solidFill>
                  <a:prstClr val="black"/>
                </a:solidFill>
              </a:rPr>
              <a:t>GraphRAG</a:t>
            </a:r>
            <a:r>
              <a:rPr lang="zh-CN" altLang="en-US" sz="1600" dirty="0">
                <a:solidFill>
                  <a:prstClr val="black"/>
                </a:solidFill>
              </a:rPr>
              <a:t>、拒答、评估、失败案例分析和报告生成的端到端流程。</a:t>
            </a:r>
          </a:p>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 </a:t>
            </a:r>
            <a:r>
              <a:rPr lang="zh-CN" altLang="en-US" sz="1600" dirty="0">
                <a:solidFill>
                  <a:prstClr val="black"/>
                </a:solidFill>
              </a:rPr>
              <a:t>实现 </a:t>
            </a:r>
            <a:r>
              <a:rPr lang="en-US" altLang="zh-CN" sz="1600" dirty="0">
                <a:solidFill>
                  <a:prstClr val="black"/>
                </a:solidFill>
              </a:rPr>
              <a:t>TF-IDF</a:t>
            </a:r>
            <a:r>
              <a:rPr lang="zh-CN" altLang="en-US" sz="1600" dirty="0">
                <a:solidFill>
                  <a:prstClr val="black"/>
                </a:solidFill>
              </a:rPr>
              <a:t>、</a:t>
            </a:r>
            <a:r>
              <a:rPr lang="en-US" altLang="zh-CN" sz="1600" dirty="0">
                <a:solidFill>
                  <a:prstClr val="black"/>
                </a:solidFill>
              </a:rPr>
              <a:t>BM25</a:t>
            </a:r>
            <a:r>
              <a:rPr lang="zh-CN" altLang="en-US" sz="1600" dirty="0">
                <a:solidFill>
                  <a:prstClr val="black"/>
                </a:solidFill>
              </a:rPr>
              <a:t>、</a:t>
            </a:r>
            <a:r>
              <a:rPr lang="en-US" altLang="zh-CN" sz="1600" dirty="0">
                <a:solidFill>
                  <a:prstClr val="black"/>
                </a:solidFill>
              </a:rPr>
              <a:t>Dense Hash </a:t>
            </a:r>
            <a:r>
              <a:rPr lang="zh-CN" altLang="en-US" sz="1600" dirty="0">
                <a:solidFill>
                  <a:prstClr val="black"/>
                </a:solidFill>
              </a:rPr>
              <a:t>三个 </a:t>
            </a:r>
            <a:r>
              <a:rPr lang="en-US" altLang="zh-CN" sz="1600" dirty="0">
                <a:solidFill>
                  <a:prstClr val="black"/>
                </a:solidFill>
              </a:rPr>
              <a:t>baseline</a:t>
            </a:r>
            <a:r>
              <a:rPr lang="zh-CN" altLang="en-US" sz="1600" dirty="0">
                <a:solidFill>
                  <a:prstClr val="black"/>
                </a:solidFill>
              </a:rPr>
              <a:t>，并与 </a:t>
            </a:r>
            <a:r>
              <a:rPr lang="en-US" altLang="zh-CN" sz="1600" dirty="0">
                <a:solidFill>
                  <a:prstClr val="black"/>
                </a:solidFill>
              </a:rPr>
              <a:t>HGESQA </a:t>
            </a:r>
            <a:r>
              <a:rPr lang="zh-CN" altLang="en-US" sz="1600" dirty="0">
                <a:solidFill>
                  <a:prstClr val="black"/>
                </a:solidFill>
              </a:rPr>
              <a:t>进行定量对比。</a:t>
            </a:r>
          </a:p>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 </a:t>
            </a:r>
            <a:r>
              <a:rPr lang="zh-CN" altLang="en-US" sz="1600" dirty="0">
                <a:solidFill>
                  <a:prstClr val="black"/>
                </a:solidFill>
              </a:rPr>
              <a:t>通过去掉关系边和关闭拒答机制两个消融实验验证图扩展与拒答模块的有效性。</a:t>
            </a: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局限性</a:t>
            </a:r>
          </a:p>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 Dense </a:t>
            </a:r>
            <a:r>
              <a:rPr lang="zh-CN" altLang="en-US" sz="1600" dirty="0">
                <a:solidFill>
                  <a:prstClr val="black"/>
                </a:solidFill>
              </a:rPr>
              <a:t>检索使用本地哈希向量近似，未接入 </a:t>
            </a:r>
            <a:r>
              <a:rPr lang="en-US" altLang="zh-CN" sz="1600" dirty="0" err="1">
                <a:solidFill>
                  <a:prstClr val="black"/>
                </a:solidFill>
              </a:rPr>
              <a:t>SciBERT</a:t>
            </a:r>
            <a:r>
              <a:rPr lang="zh-CN" altLang="en-US" sz="1600" dirty="0">
                <a:solidFill>
                  <a:prstClr val="black"/>
                </a:solidFill>
              </a:rPr>
              <a:t>、</a:t>
            </a:r>
            <a:r>
              <a:rPr lang="en-US" altLang="zh-CN" sz="1600" dirty="0">
                <a:solidFill>
                  <a:prstClr val="black"/>
                </a:solidFill>
              </a:rPr>
              <a:t>SPECTER </a:t>
            </a:r>
            <a:r>
              <a:rPr lang="zh-CN" altLang="en-US" sz="1600" dirty="0">
                <a:solidFill>
                  <a:prstClr val="black"/>
                </a:solidFill>
              </a:rPr>
              <a:t>等论文领域预训练编码器。</a:t>
            </a:r>
          </a:p>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 </a:t>
            </a:r>
            <a:r>
              <a:rPr lang="zh-CN" altLang="en-US" sz="1600" dirty="0">
                <a:solidFill>
                  <a:prstClr val="black"/>
                </a:solidFill>
              </a:rPr>
              <a:t>答案生成仍是抽取式规则，无法充分完成多证据综合与表格推理。</a:t>
            </a:r>
          </a:p>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 </a:t>
            </a:r>
            <a:r>
              <a:rPr lang="zh-CN" altLang="en-US" sz="1600" dirty="0">
                <a:solidFill>
                  <a:prstClr val="black"/>
                </a:solidFill>
              </a:rPr>
              <a:t>图结构为内存共现图，尚未使用 </a:t>
            </a:r>
            <a:r>
              <a:rPr lang="en-US" altLang="zh-CN" sz="1600" dirty="0">
                <a:solidFill>
                  <a:prstClr val="black"/>
                </a:solidFill>
              </a:rPr>
              <a:t>Neo4j </a:t>
            </a:r>
            <a:r>
              <a:rPr lang="zh-CN" altLang="en-US" sz="1600" dirty="0">
                <a:solidFill>
                  <a:prstClr val="black"/>
                </a:solidFill>
              </a:rPr>
              <a:t>等图数据库进行在线路径查询。</a:t>
            </a:r>
          </a:p>
          <a:p>
            <a:pPr marL="285750" lvl="0" indent="-285750" algn="just" fontAlgn="base" hangingPunct="0">
              <a:lnSpc>
                <a:spcPct val="130000"/>
              </a:lnSpc>
              <a:spcBef>
                <a:spcPts val="600"/>
              </a:spcBef>
              <a:spcAft>
                <a:spcPts val="600"/>
              </a:spcAft>
              <a:buClr>
                <a:srgbClr val="006C39"/>
              </a:buClr>
              <a:buFont typeface="Arial" panose="020B0604020202020204" pitchFamily="34" charset="0"/>
              <a:buChar char="•"/>
              <a:defRPr/>
            </a:pPr>
            <a:r>
              <a:rPr lang="zh-CN" altLang="en-US" sz="1600" dirty="0">
                <a:solidFill>
                  <a:prstClr val="black"/>
                </a:solidFill>
              </a:rPr>
              <a:t>未来工作</a:t>
            </a:r>
          </a:p>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 </a:t>
            </a:r>
            <a:r>
              <a:rPr lang="zh-CN" altLang="en-US" sz="1600" dirty="0">
                <a:solidFill>
                  <a:prstClr val="black"/>
                </a:solidFill>
              </a:rPr>
              <a:t>引入论文领域预训练向量模型和学习型重排序器。</a:t>
            </a:r>
          </a:p>
          <a:p>
            <a:pPr lvl="0" algn="just" fontAlgn="base" hangingPunct="0">
              <a:lnSpc>
                <a:spcPct val="130000"/>
              </a:lnSpc>
              <a:spcBef>
                <a:spcPts val="600"/>
              </a:spcBef>
              <a:spcAft>
                <a:spcPts val="600"/>
              </a:spcAft>
              <a:buClr>
                <a:srgbClr val="006C39"/>
              </a:buClr>
              <a:defRPr/>
            </a:pPr>
            <a:r>
              <a:rPr lang="en-US" altLang="zh-CN" sz="1600" dirty="0">
                <a:solidFill>
                  <a:prstClr val="black"/>
                </a:solidFill>
              </a:rPr>
              <a:t>- </a:t>
            </a:r>
            <a:r>
              <a:rPr lang="zh-CN" altLang="en-US" sz="1600" dirty="0">
                <a:solidFill>
                  <a:prstClr val="black"/>
                </a:solidFill>
              </a:rPr>
              <a:t>使用 </a:t>
            </a:r>
            <a:r>
              <a:rPr lang="en-US" altLang="zh-CN" sz="1600" dirty="0">
                <a:solidFill>
                  <a:prstClr val="black"/>
                </a:solidFill>
              </a:rPr>
              <a:t>LLM </a:t>
            </a:r>
            <a:r>
              <a:rPr lang="zh-CN" altLang="en-US" sz="1600" dirty="0">
                <a:solidFill>
                  <a:prstClr val="black"/>
                </a:solidFill>
              </a:rPr>
              <a:t>或专用抽取模型完成多证据答案综合，并加入引用约束。</a:t>
            </a:r>
          </a:p>
        </p:txBody>
      </p:sp>
    </p:spTree>
    <p:extLst>
      <p:ext uri="{BB962C8B-B14F-4D97-AF65-F5344CB8AC3E}">
        <p14:creationId xmlns:p14="http://schemas.microsoft.com/office/powerpoint/2010/main" val="1936623659"/>
      </p:ext>
    </p:extLst>
  </p:cSld>
  <p:clrMapOvr>
    <a:masterClrMapping/>
  </p:clrMapOvr>
  <p:transition spd="med">
    <p:pull/>
  </p:transition>
</p:sld>
</file>

<file path=ppt/tags/tag1.xml><?xml version="1.0" encoding="utf-8"?>
<p:tagLst xmlns:a="http://schemas.openxmlformats.org/drawingml/2006/main" xmlns:r="http://schemas.openxmlformats.org/officeDocument/2006/relationships" xmlns:p="http://schemas.openxmlformats.org/presentationml/2006/main">
  <p:tag name="PA" val="v5.1.2"/>
</p:tagLst>
</file>

<file path=ppt/theme/theme1.xml><?xml version="1.0" encoding="utf-8"?>
<a:theme xmlns:a="http://schemas.openxmlformats.org/drawingml/2006/main" name="内页​​">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1​​">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93593</TotalTime>
  <Words>1059</Words>
  <Application>Microsoft Office PowerPoint</Application>
  <PresentationFormat>宽屏</PresentationFormat>
  <Paragraphs>63</Paragraphs>
  <Slides>10</Slides>
  <Notes>10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10</vt:i4>
      </vt:variant>
    </vt:vector>
  </HeadingPairs>
  <TitlesOfParts>
    <vt:vector size="18" baseType="lpstr">
      <vt:lpstr>等线</vt:lpstr>
      <vt:lpstr>微软雅黑</vt:lpstr>
      <vt:lpstr>微软雅黑 Light</vt:lpstr>
      <vt:lpstr>Arial</vt:lpstr>
      <vt:lpstr>Century Gothic</vt:lpstr>
      <vt:lpstr>Wingdings</vt:lpstr>
      <vt:lpstr>内页​​</vt:lpstr>
      <vt:lpstr>目1​​</vt:lpstr>
      <vt:lpstr>面向计算机科学论文的证据约束型 GraphRAG 问答系统</vt:lpstr>
      <vt:lpstr>问题背景</vt:lpstr>
      <vt:lpstr>问题背景</vt:lpstr>
      <vt:lpstr>数据介绍</vt:lpstr>
      <vt:lpstr>技术方案</vt:lpstr>
      <vt:lpstr>baselines</vt:lpstr>
      <vt:lpstr>创新点</vt:lpstr>
      <vt:lpstr>实验结果</vt:lpstr>
      <vt:lpstr>实验结果</vt:lpstr>
      <vt:lpstr>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Yicheng Tang</dc:creator>
  <cp:lastModifiedBy>Yicheng Tang</cp:lastModifiedBy>
  <cp:revision>1112</cp:revision>
  <dcterms:created xsi:type="dcterms:W3CDTF">2024-10-05T07:12:20Z</dcterms:created>
  <dcterms:modified xsi:type="dcterms:W3CDTF">2026-06-13T08:25:27Z</dcterms:modified>
</cp:coreProperties>
</file>